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5" d="100"/>
          <a:sy n="45" d="100"/>
        </p:scale>
        <p:origin x="141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231-4F6F-B0AA-192983F86836}"/>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231-4F6F-B0AA-192983F8683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231-4F6F-B0AA-192983F86836}"/>
            </c:ext>
          </c:extLst>
        </c:ser>
        <c:dLbls>
          <c:showLegendKey val="0"/>
          <c:showVal val="0"/>
          <c:showCatName val="0"/>
          <c:showSerName val="0"/>
          <c:showPercent val="0"/>
          <c:showBubbleSize val="0"/>
        </c:dLbls>
        <c:gapWidth val="219"/>
        <c:overlap val="-27"/>
        <c:axId val="52142128"/>
        <c:axId val="52143088"/>
      </c:barChart>
      <c:catAx>
        <c:axId val="52142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143088"/>
        <c:crosses val="autoZero"/>
        <c:auto val="1"/>
        <c:lblAlgn val="ctr"/>
        <c:lblOffset val="100"/>
        <c:noMultiLvlLbl val="0"/>
      </c:catAx>
      <c:valAx>
        <c:axId val="52143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1421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05120"/>
            <a:ext cx="8229600" cy="4621044"/>
          </a:xfrm>
          <a:ln/>
        </p:spPr>
        <p:style>
          <a:lnRef idx="2">
            <a:schemeClr val="accent2"/>
          </a:lnRef>
          <a:fillRef idx="1">
            <a:schemeClr val="lt1"/>
          </a:fillRef>
          <a:effectRef idx="0">
            <a:schemeClr val="accent2"/>
          </a:effectRef>
          <a:fontRef idx="minor">
            <a:schemeClr val="dk1"/>
          </a:fontRef>
        </p:style>
        <p:txBody>
          <a:bodyPr/>
          <a:lstStyle/>
          <a:p>
            <a:pPr marL="0" indent="0" algn="ctr">
              <a:buNone/>
            </a:pPr>
            <a:r>
              <a:rPr lang="en-US" b="1" dirty="0"/>
              <a:t>              Bike Sharing Demand Analysis                 </a:t>
            </a:r>
          </a:p>
          <a:p>
            <a:pPr marL="0" indent="0" algn="ctr">
              <a:buNone/>
            </a:pPr>
            <a:r>
              <a:rPr lang="en-US" b="1" dirty="0"/>
              <a:t> Next Hikes IT Solutions</a:t>
            </a:r>
          </a:p>
          <a:p>
            <a:pPr marL="0" indent="0" algn="ctr">
              <a:buNone/>
            </a:pPr>
            <a:endParaRPr lang="en-US" b="1" dirty="0"/>
          </a:p>
          <a:p>
            <a:pPr marL="0" indent="0">
              <a:buNone/>
            </a:pPr>
            <a:r>
              <a:rPr lang="en-US" dirty="0">
                <a:solidFill>
                  <a:srgbClr val="002060"/>
                </a:solidFill>
              </a:rPr>
              <a:t>Name			:    		Anshita Srivastava</a:t>
            </a:r>
            <a:br>
              <a:rPr lang="en-US" dirty="0">
                <a:solidFill>
                  <a:srgbClr val="002060"/>
                </a:solidFill>
              </a:rPr>
            </a:br>
            <a:r>
              <a:rPr lang="en-US" dirty="0">
                <a:solidFill>
                  <a:srgbClr val="002060"/>
                </a:solidFill>
              </a:rPr>
              <a:t>Course			:   			DATA SCIENCE</a:t>
            </a:r>
            <a:br>
              <a:rPr lang="en-US" dirty="0">
                <a:solidFill>
                  <a:srgbClr val="002060"/>
                </a:solidFill>
              </a:rPr>
            </a:br>
            <a:r>
              <a:rPr lang="en-US" dirty="0">
                <a:solidFill>
                  <a:srgbClr val="002060"/>
                </a:solidFill>
              </a:rPr>
              <a:t>Date				:   			24.03.2026</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2" name="Title 1"/>
          <p:cNvSpPr>
            <a:spLocks noGrp="1"/>
          </p:cNvSpPr>
          <p:nvPr>
            <p:ph type="title"/>
          </p:nvPr>
        </p:nvSpPr>
        <p:spPr/>
        <p:style>
          <a:lnRef idx="0">
            <a:schemeClr val="accent1"/>
          </a:lnRef>
          <a:fillRef idx="3">
            <a:schemeClr val="accent1"/>
          </a:fillRef>
          <a:effectRef idx="3">
            <a:schemeClr val="accent1"/>
          </a:effectRef>
          <a:fontRef idx="minor">
            <a:schemeClr val="lt1"/>
          </a:fontRef>
        </p:style>
        <p:txBody>
          <a:bodyPr/>
          <a:lstStyle/>
          <a:p>
            <a:r>
              <a:rPr lang="en-US" b="1" u="sng" dirty="0">
                <a:solidFill>
                  <a:schemeClr val="tx1"/>
                </a:solidFill>
              </a:rPr>
              <a:t>Bike Sharing Demand Analysis</a:t>
            </a:r>
          </a:p>
        </p:txBody>
      </p:sp>
      <p:pic>
        <p:nvPicPr>
          <p:cNvPr id="11" name="Picture 10">
            <a:extLst>
              <a:ext uri="{FF2B5EF4-FFF2-40B4-BE49-F238E27FC236}">
                <a16:creationId xmlns:a16="http://schemas.microsoft.com/office/drawing/2014/main" id="{411A75D6-83CD-E46E-8C6B-3CD7EEADE10E}"/>
              </a:ext>
            </a:extLst>
          </p:cNvPr>
          <p:cNvPicPr>
            <a:picLocks noChangeAspect="1"/>
          </p:cNvPicPr>
          <p:nvPr/>
        </p:nvPicPr>
        <p:blipFill>
          <a:blip r:embed="rId2"/>
          <a:stretch>
            <a:fillRect/>
          </a:stretch>
        </p:blipFill>
        <p:spPr>
          <a:xfrm>
            <a:off x="5353396" y="4725785"/>
            <a:ext cx="3790604" cy="2132215"/>
          </a:xfrm>
          <a:prstGeom prst="rect">
            <a:avLst/>
          </a:prstGeom>
        </p:spPr>
      </p:pic>
      <p:sp>
        <p:nvSpPr>
          <p:cNvPr id="12" name="Star: 5 Points 11">
            <a:extLst>
              <a:ext uri="{FF2B5EF4-FFF2-40B4-BE49-F238E27FC236}">
                <a16:creationId xmlns:a16="http://schemas.microsoft.com/office/drawing/2014/main" id="{205E9CAA-25AB-65FE-0A77-501B4FC6C5BD}"/>
              </a:ext>
            </a:extLst>
          </p:cNvPr>
          <p:cNvSpPr/>
          <p:nvPr/>
        </p:nvSpPr>
        <p:spPr>
          <a:xfrm>
            <a:off x="7924800" y="4638303"/>
            <a:ext cx="914400" cy="593359"/>
          </a:xfrm>
          <a:prstGeom prst="star5">
            <a:avLst/>
          </a:prstGeom>
          <a:ln>
            <a:solidFill>
              <a:schemeClr val="accent5">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normAutofit/>
          </a:bodyPr>
          <a:lstStyle/>
          <a:p>
            <a:r>
              <a:rPr lang="en-US" sz="5400" b="1" dirty="0">
                <a:solidFill>
                  <a:schemeClr val="tx1"/>
                </a:solidFill>
              </a:rPr>
              <a:t>Introduction</a:t>
            </a:r>
            <a:endParaRPr sz="5400" b="1" dirty="0">
              <a:solidFill>
                <a:schemeClr val="tx1"/>
              </a:solidFill>
            </a:endParaRPr>
          </a:p>
        </p:txBody>
      </p:sp>
      <p:sp>
        <p:nvSpPr>
          <p:cNvPr id="3" name="Content Placeholder 2"/>
          <p:cNvSpPr>
            <a:spLocks noGrp="1"/>
          </p:cNvSpPr>
          <p:nvPr>
            <p:ph idx="1"/>
          </p:nvPr>
        </p:nvSpPr>
        <p:spPr>
          <a:xfrm>
            <a:off x="457199" y="2201333"/>
            <a:ext cx="8415867" cy="3877734"/>
          </a:xfrm>
        </p:spPr>
        <p:txBody>
          <a:bodyPr>
            <a:noAutofit/>
          </a:bodyPr>
          <a:lstStyle/>
          <a:p>
            <a:pPr marL="0" indent="0">
              <a:buNone/>
            </a:pPr>
            <a:r>
              <a:rPr lang="en-US" sz="2800" dirty="0"/>
              <a:t>This project analyzes bike-sharing data to uncover rental demand patterns by examining factors such as time, weather, and user type. Using statistical and machine learning models, it predicts demand based on historical data to optimize bike inventory and resources. The study supports urban </a:t>
            </a:r>
            <a:r>
              <a:rPr lang="en-US" sz="2800" dirty="0">
                <a:latin typeface="Arial" panose="020B0604020202020204" pitchFamily="34" charset="0"/>
                <a:cs typeface="Arial" panose="020B0604020202020204" pitchFamily="34" charset="0"/>
              </a:rPr>
              <a:t>mobility</a:t>
            </a:r>
            <a:r>
              <a:rPr lang="en-US" sz="2800" dirty="0"/>
              <a:t>, smart city development, sustainable transport, and forecasting, helping bike-sharing companies meet customer needs while maximizing efficiency and revenue.</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466" y="494771"/>
            <a:ext cx="8229600" cy="1143000"/>
          </a:xfrm>
          <a:ln/>
        </p:spPr>
        <p:style>
          <a:lnRef idx="0">
            <a:schemeClr val="accent1"/>
          </a:lnRef>
          <a:fillRef idx="3">
            <a:schemeClr val="accent1"/>
          </a:fillRef>
          <a:effectRef idx="3">
            <a:schemeClr val="accent1"/>
          </a:effectRef>
          <a:fontRef idx="minor">
            <a:schemeClr val="lt1"/>
          </a:fontRef>
        </p:style>
        <p:txBody>
          <a:bodyPr/>
          <a:lstStyle/>
          <a:p>
            <a:r>
              <a:rPr b="1" dirty="0">
                <a:solidFill>
                  <a:schemeClr val="tx1"/>
                </a:solidFill>
              </a:rPr>
              <a:t>Problem</a:t>
            </a:r>
            <a:r>
              <a:rPr dirty="0"/>
              <a:t> </a:t>
            </a:r>
            <a:r>
              <a:rPr b="1" dirty="0">
                <a:solidFill>
                  <a:schemeClr val="tx1"/>
                </a:solidFill>
              </a:rPr>
              <a:t>Statement</a:t>
            </a:r>
          </a:p>
        </p:txBody>
      </p:sp>
      <p:sp>
        <p:nvSpPr>
          <p:cNvPr id="4" name="Rectangle 1">
            <a:extLst>
              <a:ext uri="{FF2B5EF4-FFF2-40B4-BE49-F238E27FC236}">
                <a16:creationId xmlns:a16="http://schemas.microsoft.com/office/drawing/2014/main" id="{ED0D56A0-F0BC-0B6E-F34D-A82141853554}"/>
              </a:ext>
            </a:extLst>
          </p:cNvPr>
          <p:cNvSpPr>
            <a:spLocks noGrp="1" noChangeArrowheads="1"/>
          </p:cNvSpPr>
          <p:nvPr>
            <p:ph idx="1"/>
          </p:nvPr>
        </p:nvSpPr>
        <p:spPr bwMode="auto">
          <a:xfrm>
            <a:off x="457200" y="2804211"/>
            <a:ext cx="907011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800" i="0" u="none" strike="noStrike" cap="none" normalizeH="0" baseline="0" dirty="0">
                <a:ln>
                  <a:noFill/>
                </a:ln>
                <a:solidFill>
                  <a:schemeClr val="tx1"/>
                </a:solidFill>
                <a:effectLst/>
                <a:latin typeface="Arial" panose="020B0604020202020204" pitchFamily="34" charset="0"/>
              </a:rPr>
              <a:t>Bike-sharing companies struggle to predict fluctuating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i="0" u="none" strike="noStrike" cap="none" normalizeH="0" baseline="0" dirty="0">
                <a:ln>
                  <a:noFill/>
                </a:ln>
                <a:solidFill>
                  <a:schemeClr val="tx1"/>
                </a:solidFill>
                <a:effectLst/>
                <a:latin typeface="Arial" panose="020B0604020202020204" pitchFamily="34" charset="0"/>
              </a:rPr>
              <a:t> rental demand.</a:t>
            </a:r>
          </a:p>
          <a:p>
            <a:pPr defTabSz="914400" eaLnBrk="0" fontAlgn="base" hangingPunct="0">
              <a:spcBef>
                <a:spcPct val="0"/>
              </a:spcBef>
              <a:spcAft>
                <a:spcPct val="0"/>
              </a:spcAft>
            </a:pPr>
            <a:r>
              <a:rPr kumimoji="0" lang="en-US" altLang="en-US" sz="2800" i="0" u="none" strike="noStrike" cap="none" normalizeH="0" baseline="0" dirty="0">
                <a:ln>
                  <a:noFill/>
                </a:ln>
                <a:solidFill>
                  <a:schemeClr val="tx1"/>
                </a:solidFill>
                <a:effectLst/>
                <a:latin typeface="Arial" panose="020B0604020202020204" pitchFamily="34" charset="0"/>
              </a:rPr>
              <a:t>Demand depends on time, weather, and user type.</a:t>
            </a:r>
          </a:p>
          <a:p>
            <a:pPr defTabSz="914400" eaLnBrk="0" fontAlgn="base" hangingPunct="0">
              <a:spcBef>
                <a:spcPct val="0"/>
              </a:spcBef>
              <a:spcAft>
                <a:spcPct val="0"/>
              </a:spcAft>
            </a:pPr>
            <a:r>
              <a:rPr kumimoji="0" lang="en-US" altLang="en-US" sz="2800" i="0" u="none" strike="noStrike" cap="none" normalizeH="0" baseline="0" dirty="0">
                <a:ln>
                  <a:noFill/>
                </a:ln>
                <a:solidFill>
                  <a:schemeClr val="tx1"/>
                </a:solidFill>
                <a:effectLst/>
                <a:latin typeface="Arial" panose="020B0604020202020204" pitchFamily="34" charset="0"/>
              </a:rPr>
              <a:t>Poor prediction causes resource misallocation and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i="0" u="none" strike="noStrike" cap="none" normalizeH="0" baseline="0" dirty="0">
                <a:ln>
                  <a:noFill/>
                </a:ln>
                <a:solidFill>
                  <a:schemeClr val="tx1"/>
                </a:solidFill>
                <a:effectLst/>
                <a:latin typeface="Arial" panose="020B0604020202020204" pitchFamily="34" charset="0"/>
              </a:rPr>
              <a:t> lost revenue.</a:t>
            </a:r>
          </a:p>
          <a:p>
            <a:pPr defTabSz="914400" eaLnBrk="0" fontAlgn="base" hangingPunct="0">
              <a:spcBef>
                <a:spcPct val="0"/>
              </a:spcBef>
              <a:spcAft>
                <a:spcPct val="0"/>
              </a:spcAft>
            </a:pPr>
            <a:r>
              <a:rPr kumimoji="0" lang="en-US" altLang="en-US" sz="2800" i="0" u="none" strike="noStrike" cap="none" normalizeH="0" baseline="0" dirty="0">
                <a:ln>
                  <a:noFill/>
                </a:ln>
                <a:solidFill>
                  <a:schemeClr val="tx1"/>
                </a:solidFill>
                <a:effectLst/>
                <a:latin typeface="Arial" panose="020B0604020202020204" pitchFamily="34" charset="0"/>
              </a:rPr>
              <a:t>The challenge is to build a predictive model for </a:t>
            </a:r>
          </a:p>
          <a:p>
            <a:pPr marL="0" indent="0" defTabSz="914400" eaLnBrk="0" fontAlgn="base" hangingPunct="0">
              <a:spcBef>
                <a:spcPct val="0"/>
              </a:spcBef>
              <a:spcAft>
                <a:spcPct val="0"/>
              </a:spcAft>
              <a:buNone/>
            </a:pPr>
            <a:r>
              <a:rPr kumimoji="0" lang="en-US" altLang="en-US" sz="2800" i="0" u="none" strike="noStrike" cap="none" normalizeH="0" baseline="0" dirty="0">
                <a:ln>
                  <a:noFill/>
                </a:ln>
                <a:solidFill>
                  <a:schemeClr val="tx1"/>
                </a:solidFill>
                <a:effectLst/>
                <a:latin typeface="Arial" panose="020B0604020202020204" pitchFamily="34" charset="0"/>
              </a:rPr>
              <a:t>accurate demand forecasting</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Dataset Overview</a:t>
            </a:r>
          </a:p>
        </p:txBody>
      </p:sp>
      <p:pic>
        <p:nvPicPr>
          <p:cNvPr id="5" name="Content Placeholder 4">
            <a:extLst>
              <a:ext uri="{FF2B5EF4-FFF2-40B4-BE49-F238E27FC236}">
                <a16:creationId xmlns:a16="http://schemas.microsoft.com/office/drawing/2014/main" id="{EFD5855F-9E6C-5214-9AED-922049E7225D}"/>
              </a:ext>
            </a:extLst>
          </p:cNvPr>
          <p:cNvPicPr>
            <a:picLocks noGrp="1" noChangeAspect="1"/>
          </p:cNvPicPr>
          <p:nvPr>
            <p:ph idx="1"/>
          </p:nvPr>
        </p:nvPicPr>
        <p:blipFill>
          <a:blip r:embed="rId2"/>
          <a:stretch>
            <a:fillRect/>
          </a:stretch>
        </p:blipFill>
        <p:spPr>
          <a:xfrm>
            <a:off x="728133" y="1744134"/>
            <a:ext cx="7772400" cy="43857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Data Cleaning</a:t>
            </a:r>
          </a:p>
        </p:txBody>
      </p:sp>
      <p:sp>
        <p:nvSpPr>
          <p:cNvPr id="6" name="Rectangle 3">
            <a:extLst>
              <a:ext uri="{FF2B5EF4-FFF2-40B4-BE49-F238E27FC236}">
                <a16:creationId xmlns:a16="http://schemas.microsoft.com/office/drawing/2014/main" id="{7EA3E74D-EB57-73C5-F9BB-B6B1365F6C77}"/>
              </a:ext>
            </a:extLst>
          </p:cNvPr>
          <p:cNvSpPr>
            <a:spLocks noGrp="1" noChangeArrowheads="1"/>
          </p:cNvSpPr>
          <p:nvPr>
            <p:ph idx="1"/>
          </p:nvPr>
        </p:nvSpPr>
        <p:spPr bwMode="auto">
          <a:xfrm>
            <a:off x="685800" y="1639995"/>
            <a:ext cx="777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Handle Missing Values</a:t>
            </a:r>
            <a:r>
              <a:rPr kumimoji="0" lang="en-US" altLang="en-US" sz="2400" b="0" i="0" u="none" strike="noStrike" cap="none" normalizeH="0" baseline="0" dirty="0">
                <a:ln>
                  <a:noFill/>
                </a:ln>
                <a:solidFill>
                  <a:schemeClr val="tx1"/>
                </a:solidFill>
                <a:effectLst/>
                <a:latin typeface="Arial" panose="020B0604020202020204" pitchFamily="34" charset="0"/>
              </a:rPr>
              <a:t> – Remove or fill null entries.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Fix Data Types</a:t>
            </a:r>
            <a:r>
              <a:rPr kumimoji="0" lang="en-US" altLang="en-US" sz="2400" b="0" i="0" u="none" strike="noStrike" cap="none" normalizeH="0" baseline="0" dirty="0">
                <a:ln>
                  <a:noFill/>
                </a:ln>
                <a:solidFill>
                  <a:schemeClr val="tx1"/>
                </a:solidFill>
                <a:effectLst/>
                <a:latin typeface="Arial" panose="020B0604020202020204" pitchFamily="34" charset="0"/>
              </a:rPr>
              <a:t> – Ensure correct formats (For Ex- date, numeric).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Remove Duplicates</a:t>
            </a:r>
            <a:r>
              <a:rPr kumimoji="0" lang="en-US" altLang="en-US" sz="2400" b="0" i="0" u="none" strike="noStrike" cap="none" normalizeH="0" baseline="0" dirty="0">
                <a:ln>
                  <a:noFill/>
                </a:ln>
                <a:solidFill>
                  <a:schemeClr val="tx1"/>
                </a:solidFill>
                <a:effectLst/>
                <a:latin typeface="Arial" panose="020B0604020202020204" pitchFamily="34" charset="0"/>
              </a:rPr>
              <a:t> – Eliminate repeated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Normalize Data</a:t>
            </a:r>
            <a:r>
              <a:rPr kumimoji="0" lang="en-US" altLang="en-US" sz="2400" b="0" i="0" u="none" strike="noStrike" cap="none" normalizeH="0" baseline="0" dirty="0">
                <a:ln>
                  <a:noFill/>
                </a:ln>
                <a:solidFill>
                  <a:schemeClr val="tx1"/>
                </a:solidFill>
                <a:effectLst/>
                <a:latin typeface="Arial" panose="020B0604020202020204" pitchFamily="34" charset="0"/>
              </a:rPr>
              <a:t> – Standardize units and scales.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Filter Outliers</a:t>
            </a:r>
            <a:r>
              <a:rPr kumimoji="0" lang="en-US" altLang="en-US" sz="2400" b="0" i="0" u="none" strike="noStrike" cap="none" normalizeH="0" baseline="0" dirty="0">
                <a:ln>
                  <a:noFill/>
                </a:ln>
                <a:solidFill>
                  <a:schemeClr val="tx1"/>
                </a:solidFill>
                <a:effectLst/>
                <a:latin typeface="Arial" panose="020B0604020202020204" pitchFamily="34" charset="0"/>
              </a:rPr>
              <a:t> – Detect and manage anomalies.</a:t>
            </a:r>
          </a:p>
        </p:txBody>
      </p:sp>
      <p:pic>
        <p:nvPicPr>
          <p:cNvPr id="8" name="Picture 7">
            <a:extLst>
              <a:ext uri="{FF2B5EF4-FFF2-40B4-BE49-F238E27FC236}">
                <a16:creationId xmlns:a16="http://schemas.microsoft.com/office/drawing/2014/main" id="{83D210D4-D21C-6D80-BDCC-A6B5E0250245}"/>
              </a:ext>
            </a:extLst>
          </p:cNvPr>
          <p:cNvPicPr>
            <a:picLocks noChangeAspect="1"/>
          </p:cNvPicPr>
          <p:nvPr/>
        </p:nvPicPr>
        <p:blipFill>
          <a:blip r:embed="rId2"/>
          <a:stretch>
            <a:fillRect/>
          </a:stretch>
        </p:blipFill>
        <p:spPr>
          <a:xfrm>
            <a:off x="-338667" y="4354719"/>
            <a:ext cx="9821333" cy="4086817"/>
          </a:xfrm>
          <a:prstGeom prst="rect">
            <a:avLst/>
          </a:prstGeom>
        </p:spPr>
        <p:style>
          <a:lnRef idx="1">
            <a:schemeClr val="accent2"/>
          </a:lnRef>
          <a:fillRef idx="2">
            <a:schemeClr val="accent2"/>
          </a:fillRef>
          <a:effectRef idx="1">
            <a:schemeClr val="accent2"/>
          </a:effectRef>
          <a:fontRef idx="minor">
            <a:schemeClr val="dk1"/>
          </a:fontRef>
        </p:style>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Data Merging</a:t>
            </a:r>
          </a:p>
        </p:txBody>
      </p:sp>
      <p:sp>
        <p:nvSpPr>
          <p:cNvPr id="5" name="Rectangle 2">
            <a:extLst>
              <a:ext uri="{FF2B5EF4-FFF2-40B4-BE49-F238E27FC236}">
                <a16:creationId xmlns:a16="http://schemas.microsoft.com/office/drawing/2014/main" id="{051BE994-764E-ADA0-E603-BDE589BEE949}"/>
              </a:ext>
            </a:extLst>
          </p:cNvPr>
          <p:cNvSpPr>
            <a:spLocks noGrp="1" noChangeArrowheads="1"/>
          </p:cNvSpPr>
          <p:nvPr>
            <p:ph idx="1"/>
          </p:nvPr>
        </p:nvSpPr>
        <p:spPr bwMode="auto">
          <a:xfrm>
            <a:off x="457200" y="1933514"/>
            <a:ext cx="84401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Combine Multiple Sources</a:t>
            </a:r>
            <a:r>
              <a:rPr kumimoji="0" lang="en-US" altLang="en-US" sz="2800" b="0" i="0" u="none" strike="noStrike" cap="none" normalizeH="0" baseline="0" dirty="0">
                <a:ln>
                  <a:noFill/>
                </a:ln>
                <a:solidFill>
                  <a:schemeClr val="tx1"/>
                </a:solidFill>
                <a:effectLst/>
                <a:latin typeface="Arial" panose="020B0604020202020204" pitchFamily="34" charset="0"/>
              </a:rPr>
              <a:t> – Merge datasets like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weather, rental logs, and user info.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Align Time Stamps</a:t>
            </a:r>
            <a:r>
              <a:rPr kumimoji="0" lang="en-US" altLang="en-US" sz="2800" b="0" i="0" u="none" strike="noStrike" cap="none" normalizeH="0" baseline="0" dirty="0">
                <a:ln>
                  <a:noFill/>
                </a:ln>
                <a:solidFill>
                  <a:schemeClr val="tx1"/>
                </a:solidFill>
                <a:effectLst/>
                <a:latin typeface="Arial" panose="020B0604020202020204" pitchFamily="34" charset="0"/>
              </a:rPr>
              <a:t> – Ensure all data shares 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common time format for accurate merging.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Join on Keys</a:t>
            </a:r>
            <a:r>
              <a:rPr kumimoji="0" lang="en-US" altLang="en-US" sz="2800" b="0" i="0" u="none" strike="noStrike" cap="none" normalizeH="0" baseline="0" dirty="0">
                <a:ln>
                  <a:noFill/>
                </a:ln>
                <a:solidFill>
                  <a:schemeClr val="tx1"/>
                </a:solidFill>
                <a:effectLst/>
                <a:latin typeface="Arial" panose="020B0604020202020204" pitchFamily="34" charset="0"/>
              </a:rPr>
              <a:t> – Use shared columns (date, hour)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link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Resolve Conflicts</a:t>
            </a:r>
            <a:r>
              <a:rPr kumimoji="0" lang="en-US" altLang="en-US" sz="2800" b="0" i="0" u="none" strike="noStrike" cap="none" normalizeH="0" baseline="0" dirty="0">
                <a:ln>
                  <a:noFill/>
                </a:ln>
                <a:solidFill>
                  <a:schemeClr val="tx1"/>
                </a:solidFill>
                <a:effectLst/>
                <a:latin typeface="Arial" panose="020B0604020202020204" pitchFamily="34" charset="0"/>
              </a:rPr>
              <a:t> – Handle overlapping 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inconsistent entries during merge.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Verify Integrity</a:t>
            </a:r>
            <a:r>
              <a:rPr kumimoji="0" lang="en-US" altLang="en-US" sz="2800" b="0" i="0" u="none" strike="noStrike" cap="none" normalizeH="0" baseline="0" dirty="0">
                <a:ln>
                  <a:noFill/>
                </a:ln>
                <a:solidFill>
                  <a:schemeClr val="tx1"/>
                </a:solidFill>
                <a:effectLst/>
                <a:latin typeface="Arial" panose="020B0604020202020204" pitchFamily="34" charset="0"/>
              </a:rPr>
              <a:t> – Check merged data for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completeness and correctness.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Key Features Created</a:t>
            </a:r>
          </a:p>
        </p:txBody>
      </p:sp>
      <p:sp>
        <p:nvSpPr>
          <p:cNvPr id="4" name="Rectangle 1">
            <a:extLst>
              <a:ext uri="{FF2B5EF4-FFF2-40B4-BE49-F238E27FC236}">
                <a16:creationId xmlns:a16="http://schemas.microsoft.com/office/drawing/2014/main" id="{8A6F6C8E-703F-0AFC-4A8E-131DD2A5EDCF}"/>
              </a:ext>
            </a:extLst>
          </p:cNvPr>
          <p:cNvSpPr>
            <a:spLocks noGrp="1" noChangeArrowheads="1"/>
          </p:cNvSpPr>
          <p:nvPr>
            <p:ph idx="1"/>
          </p:nvPr>
        </p:nvSpPr>
        <p:spPr bwMode="auto">
          <a:xfrm>
            <a:off x="480707" y="2165890"/>
            <a:ext cx="820609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Hour Bins</a:t>
            </a:r>
            <a:r>
              <a:rPr kumimoji="0" lang="en-US" altLang="en-US" sz="2800" b="0" i="0" u="none" strike="noStrike" cap="none" normalizeH="0" baseline="0" dirty="0">
                <a:ln>
                  <a:noFill/>
                </a:ln>
                <a:solidFill>
                  <a:schemeClr val="tx1"/>
                </a:solidFill>
                <a:effectLst/>
                <a:latin typeface="Arial" panose="020B0604020202020204" pitchFamily="34" charset="0"/>
              </a:rPr>
              <a:t> – Grouped hours into peak and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off-peak slots.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Day Type</a:t>
            </a:r>
            <a:r>
              <a:rPr kumimoji="0" lang="en-US" altLang="en-US" sz="2800" b="0" i="0" u="none" strike="noStrike" cap="none" normalizeH="0" baseline="0" dirty="0">
                <a:ln>
                  <a:noFill/>
                </a:ln>
                <a:solidFill>
                  <a:schemeClr val="tx1"/>
                </a:solidFill>
                <a:effectLst/>
                <a:latin typeface="Arial" panose="020B0604020202020204" pitchFamily="34" charset="0"/>
              </a:rPr>
              <a:t> – Labeled days as weekday, weekend,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or holiday.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Weather Index</a:t>
            </a:r>
            <a:r>
              <a:rPr kumimoji="0" lang="en-US" altLang="en-US" sz="2800" b="0" i="0" u="none" strike="noStrike" cap="none" normalizeH="0" baseline="0" dirty="0">
                <a:ln>
                  <a:noFill/>
                </a:ln>
                <a:solidFill>
                  <a:schemeClr val="tx1"/>
                </a:solidFill>
                <a:effectLst/>
                <a:latin typeface="Arial" panose="020B0604020202020204" pitchFamily="34" charset="0"/>
              </a:rPr>
              <a:t> – Combined weather metrics into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 single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User Ratio</a:t>
            </a:r>
            <a:r>
              <a:rPr kumimoji="0" lang="en-US" altLang="en-US" sz="2800" b="0" i="0" u="none" strike="noStrike" cap="none" normalizeH="0" baseline="0" dirty="0">
                <a:ln>
                  <a:noFill/>
                </a:ln>
                <a:solidFill>
                  <a:schemeClr val="tx1"/>
                </a:solidFill>
                <a:effectLst/>
                <a:latin typeface="Arial" panose="020B0604020202020204" pitchFamily="34" charset="0"/>
              </a:rPr>
              <a:t> – Ratio of casual to registered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Lag Features</a:t>
            </a:r>
            <a:r>
              <a:rPr kumimoji="0" lang="en-US" altLang="en-US" sz="2800" b="0" i="0" u="none" strike="noStrike" cap="none" normalizeH="0" baseline="0" dirty="0">
                <a:ln>
                  <a:noFill/>
                </a:ln>
                <a:solidFill>
                  <a:schemeClr val="tx1"/>
                </a:solidFill>
                <a:effectLst/>
                <a:latin typeface="Arial" panose="020B0604020202020204" pitchFamily="34" charset="0"/>
              </a:rPr>
              <a:t> – Previous rental counts to capture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trends.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Analysis</a:t>
            </a:r>
            <a:r>
              <a:rPr b="1" dirty="0"/>
              <a:t> - </a:t>
            </a:r>
            <a:r>
              <a:rPr b="1" dirty="0">
                <a:solidFill>
                  <a:schemeClr val="tx2"/>
                </a:solidFill>
              </a:rPr>
              <a:t>Hourly</a:t>
            </a:r>
            <a:r>
              <a:rPr b="1" dirty="0"/>
              <a:t> </a:t>
            </a:r>
            <a:r>
              <a:rPr b="1" dirty="0">
                <a:solidFill>
                  <a:schemeClr val="tx2"/>
                </a:solidFill>
              </a:rPr>
              <a:t>Demand</a:t>
            </a:r>
          </a:p>
        </p:txBody>
      </p:sp>
      <p:sp>
        <p:nvSpPr>
          <p:cNvPr id="4" name="Rectangle 1">
            <a:extLst>
              <a:ext uri="{FF2B5EF4-FFF2-40B4-BE49-F238E27FC236}">
                <a16:creationId xmlns:a16="http://schemas.microsoft.com/office/drawing/2014/main" id="{76EC327F-858E-6370-F98A-7D83F8A97988}"/>
              </a:ext>
            </a:extLst>
          </p:cNvPr>
          <p:cNvSpPr>
            <a:spLocks noGrp="1" noChangeArrowheads="1"/>
          </p:cNvSpPr>
          <p:nvPr>
            <p:ph idx="1"/>
          </p:nvPr>
        </p:nvSpPr>
        <p:spPr bwMode="auto">
          <a:xfrm>
            <a:off x="457200" y="1933514"/>
            <a:ext cx="816922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Peak Hours</a:t>
            </a:r>
            <a:r>
              <a:rPr kumimoji="0" lang="en-US" altLang="en-US" sz="2800" b="0" i="0" u="none" strike="noStrike" cap="none" normalizeH="0" baseline="0" dirty="0">
                <a:ln>
                  <a:noFill/>
                </a:ln>
                <a:solidFill>
                  <a:schemeClr val="tx1"/>
                </a:solidFill>
                <a:effectLst/>
                <a:latin typeface="Arial" panose="020B0604020202020204" pitchFamily="34" charset="0"/>
              </a:rPr>
              <a:t> – Morning and evening rush show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highest rentals.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Off-Peak Hours</a:t>
            </a:r>
            <a:r>
              <a:rPr kumimoji="0" lang="en-US" altLang="en-US" sz="2800" b="0" i="0" u="none" strike="noStrike" cap="none" normalizeH="0" baseline="0" dirty="0">
                <a:ln>
                  <a:noFill/>
                </a:ln>
                <a:solidFill>
                  <a:schemeClr val="tx1"/>
                </a:solidFill>
                <a:effectLst/>
                <a:latin typeface="Arial" panose="020B0604020202020204" pitchFamily="34" charset="0"/>
              </a:rPr>
              <a:t> – Midday and late-night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is lower.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Weekday vs. Weekend</a:t>
            </a:r>
            <a:r>
              <a:rPr kumimoji="0" lang="en-US" altLang="en-US" sz="2800" b="0" i="0" u="none" strike="noStrike" cap="none" normalizeH="0" baseline="0" dirty="0">
                <a:ln>
                  <a:noFill/>
                </a:ln>
                <a:solidFill>
                  <a:schemeClr val="tx1"/>
                </a:solidFill>
                <a:effectLst/>
                <a:latin typeface="Arial" panose="020B0604020202020204" pitchFamily="34" charset="0"/>
              </a:rPr>
              <a:t> – Usage patterns differ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across day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Weather Impact</a:t>
            </a:r>
            <a:r>
              <a:rPr kumimoji="0" lang="en-US" altLang="en-US" sz="2800" b="0" i="0" u="none" strike="noStrike" cap="none" normalizeH="0" baseline="0" dirty="0">
                <a:ln>
                  <a:noFill/>
                </a:ln>
                <a:solidFill>
                  <a:schemeClr val="tx1"/>
                </a:solidFill>
                <a:effectLst/>
                <a:latin typeface="Arial" panose="020B0604020202020204" pitchFamily="34" charset="0"/>
              </a:rPr>
              <a:t> – Hourly demand shifts with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temperature, rain, humidity.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User Type Trends</a:t>
            </a:r>
            <a:r>
              <a:rPr kumimoji="0" lang="en-US" altLang="en-US" sz="2800" b="0" i="0" u="none" strike="noStrike" cap="none" normalizeH="0" baseline="0" dirty="0">
                <a:ln>
                  <a:noFill/>
                </a:ln>
                <a:solidFill>
                  <a:schemeClr val="tx1"/>
                </a:solidFill>
                <a:effectLst/>
                <a:latin typeface="Arial" panose="020B0604020202020204" pitchFamily="34" charset="0"/>
              </a:rPr>
              <a:t> – Casual vs. registered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show distinct hourly behaviors.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588" y="274638"/>
            <a:ext cx="8229600" cy="1143000"/>
          </a:xfrm>
          <a:ln/>
        </p:spPr>
        <p:style>
          <a:lnRef idx="0">
            <a:schemeClr val="accent1"/>
          </a:lnRef>
          <a:fillRef idx="3">
            <a:schemeClr val="accent1"/>
          </a:fillRef>
          <a:effectRef idx="3">
            <a:schemeClr val="accent1"/>
          </a:effectRef>
          <a:fontRef idx="minor">
            <a:schemeClr val="lt1"/>
          </a:fontRef>
        </p:style>
        <p:txBody>
          <a:bodyPr/>
          <a:lstStyle/>
          <a:p>
            <a:r>
              <a:rPr dirty="0">
                <a:solidFill>
                  <a:schemeClr val="tx2"/>
                </a:solidFill>
              </a:rPr>
              <a:t>Analysis - Weather Impact</a:t>
            </a:r>
          </a:p>
        </p:txBody>
      </p:sp>
      <p:sp>
        <p:nvSpPr>
          <p:cNvPr id="8" name="Rectangle 1">
            <a:extLst>
              <a:ext uri="{FF2B5EF4-FFF2-40B4-BE49-F238E27FC236}">
                <a16:creationId xmlns:a16="http://schemas.microsoft.com/office/drawing/2014/main" id="{DA8C5B13-1D39-A5C1-C8BC-524AC3BD0898}"/>
              </a:ext>
            </a:extLst>
          </p:cNvPr>
          <p:cNvSpPr>
            <a:spLocks noGrp="1" noChangeArrowheads="1"/>
          </p:cNvSpPr>
          <p:nvPr>
            <p:ph idx="1"/>
          </p:nvPr>
        </p:nvSpPr>
        <p:spPr bwMode="auto">
          <a:xfrm>
            <a:off x="457200" y="2218438"/>
            <a:ext cx="814998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Bad weather like rain or strong wind reduces bike rentals.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Pleasant weather boosts demand, especially from casual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users.</a:t>
            </a:r>
          </a:p>
        </p:txBody>
      </p:sp>
      <p:pic>
        <p:nvPicPr>
          <p:cNvPr id="10" name="Picture 9">
            <a:extLst>
              <a:ext uri="{FF2B5EF4-FFF2-40B4-BE49-F238E27FC236}">
                <a16:creationId xmlns:a16="http://schemas.microsoft.com/office/drawing/2014/main" id="{2A2156D5-6B54-CA51-8E2B-15DD85948685}"/>
              </a:ext>
            </a:extLst>
          </p:cNvPr>
          <p:cNvPicPr>
            <a:picLocks noChangeAspect="1"/>
          </p:cNvPicPr>
          <p:nvPr/>
        </p:nvPicPr>
        <p:blipFill>
          <a:blip r:embed="rId2"/>
          <a:stretch>
            <a:fillRect/>
          </a:stretch>
        </p:blipFill>
        <p:spPr>
          <a:xfrm>
            <a:off x="544394" y="3617033"/>
            <a:ext cx="8229599" cy="33526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0">
            <a:schemeClr val="accent1"/>
          </a:lnRef>
          <a:fillRef idx="3">
            <a:schemeClr val="accent1"/>
          </a:fillRef>
          <a:effectRef idx="3">
            <a:schemeClr val="accent1"/>
          </a:effectRef>
          <a:fontRef idx="minor">
            <a:schemeClr val="lt1"/>
          </a:fontRef>
        </p:style>
        <p:txBody>
          <a:bodyPr/>
          <a:lstStyle/>
          <a:p>
            <a:r>
              <a:rPr b="1" dirty="0">
                <a:solidFill>
                  <a:schemeClr val="tx2"/>
                </a:solidFill>
              </a:rPr>
              <a:t>Analysis - Monthly Trend</a:t>
            </a:r>
          </a:p>
        </p:txBody>
      </p:sp>
      <p:sp>
        <p:nvSpPr>
          <p:cNvPr id="4" name="Rectangle 1">
            <a:extLst>
              <a:ext uri="{FF2B5EF4-FFF2-40B4-BE49-F238E27FC236}">
                <a16:creationId xmlns:a16="http://schemas.microsoft.com/office/drawing/2014/main" id="{E894679E-2C2F-364C-362A-67CAA2D7D2F8}"/>
              </a:ext>
            </a:extLst>
          </p:cNvPr>
          <p:cNvSpPr>
            <a:spLocks noGrp="1" noChangeArrowheads="1"/>
          </p:cNvSpPr>
          <p:nvPr>
            <p:ph idx="1"/>
          </p:nvPr>
        </p:nvSpPr>
        <p:spPr bwMode="auto">
          <a:xfrm>
            <a:off x="327889" y="2047300"/>
            <a:ext cx="848822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Bike rentals are highest in warmer months like May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to September.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Winter months show lower demand due to cold 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weather 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a:ln>
            <a:solidFill>
              <a:schemeClr val="accent2">
                <a:lumMod val="20000"/>
                <a:lumOff val="80000"/>
              </a:schemeClr>
            </a:solidFill>
          </a:ln>
        </p:spPr>
        <p:style>
          <a:lnRef idx="0">
            <a:schemeClr val="accent1"/>
          </a:lnRef>
          <a:fillRef idx="3">
            <a:schemeClr val="accent1"/>
          </a:fillRef>
          <a:effectRef idx="3">
            <a:schemeClr val="accent1"/>
          </a:effectRef>
          <a:fontRef idx="minor">
            <a:schemeClr val="lt1"/>
          </a:fontRef>
        </p:style>
        <p:txBody>
          <a:bodyPr/>
          <a:lstStyle/>
          <a:p>
            <a:r>
              <a:rPr b="1" dirty="0">
                <a:solidFill>
                  <a:schemeClr val="tx1"/>
                </a:solidFill>
              </a:rPr>
              <a:t>User Analysis</a:t>
            </a:r>
          </a:p>
        </p:txBody>
      </p:sp>
      <p:sp>
        <p:nvSpPr>
          <p:cNvPr id="4" name="Rectangle 1">
            <a:extLst>
              <a:ext uri="{FF2B5EF4-FFF2-40B4-BE49-F238E27FC236}">
                <a16:creationId xmlns:a16="http://schemas.microsoft.com/office/drawing/2014/main" id="{97027509-02D5-8F60-9E79-441694239388}"/>
              </a:ext>
            </a:extLst>
          </p:cNvPr>
          <p:cNvSpPr>
            <a:spLocks noGrp="1" noChangeArrowheads="1"/>
          </p:cNvSpPr>
          <p:nvPr>
            <p:ph idx="1"/>
          </p:nvPr>
        </p:nvSpPr>
        <p:spPr bwMode="auto">
          <a:xfrm>
            <a:off x="1041399" y="4282561"/>
            <a:ext cx="706120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Casual users ride more on weekends and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good weather.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Registered users show consistent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across weekdays.</a:t>
            </a:r>
          </a:p>
        </p:txBody>
      </p:sp>
      <p:pic>
        <p:nvPicPr>
          <p:cNvPr id="6" name="Picture 5">
            <a:extLst>
              <a:ext uri="{FF2B5EF4-FFF2-40B4-BE49-F238E27FC236}">
                <a16:creationId xmlns:a16="http://schemas.microsoft.com/office/drawing/2014/main" id="{E402913D-AB82-1615-EEA0-CE610519571B}"/>
              </a:ext>
            </a:extLst>
          </p:cNvPr>
          <p:cNvPicPr>
            <a:picLocks noChangeAspect="1"/>
          </p:cNvPicPr>
          <p:nvPr/>
        </p:nvPicPr>
        <p:blipFill>
          <a:blip r:embed="rId2"/>
          <a:stretch>
            <a:fillRect/>
          </a:stretch>
        </p:blipFill>
        <p:spPr>
          <a:xfrm>
            <a:off x="1270000" y="1608527"/>
            <a:ext cx="5909732" cy="26412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a:ln>
            <a:solidFill>
              <a:schemeClr val="accent2">
                <a:lumMod val="20000"/>
                <a:lumOff val="80000"/>
              </a:schemeClr>
            </a:solidFill>
          </a:ln>
        </p:spPr>
        <p:style>
          <a:lnRef idx="0">
            <a:schemeClr val="accent1"/>
          </a:lnRef>
          <a:fillRef idx="3">
            <a:schemeClr val="accent1"/>
          </a:fillRef>
          <a:effectRef idx="3">
            <a:schemeClr val="accent1"/>
          </a:effectRef>
          <a:fontRef idx="minor">
            <a:schemeClr val="lt1"/>
          </a:fontRef>
        </p:style>
        <p:txBody>
          <a:bodyPr/>
          <a:lstStyle/>
          <a:p>
            <a:r>
              <a:rPr lang="en-US" b="1" dirty="0">
                <a:solidFill>
                  <a:schemeClr val="tx1"/>
                </a:solidFill>
              </a:rPr>
              <a:t>Tools Used</a:t>
            </a:r>
            <a:endParaRPr b="1" dirty="0">
              <a:solidFill>
                <a:schemeClr val="tx1"/>
              </a:solidFill>
            </a:endParaRPr>
          </a:p>
        </p:txBody>
      </p:sp>
      <p:graphicFrame>
        <p:nvGraphicFramePr>
          <p:cNvPr id="7" name="Content Placeholder 6">
            <a:extLst>
              <a:ext uri="{FF2B5EF4-FFF2-40B4-BE49-F238E27FC236}">
                <a16:creationId xmlns:a16="http://schemas.microsoft.com/office/drawing/2014/main" id="{BFCDD37D-EDFD-95C8-B5CB-BC5F2185AC1F}"/>
              </a:ext>
            </a:extLst>
          </p:cNvPr>
          <p:cNvGraphicFramePr>
            <a:graphicFrameLocks noGrp="1"/>
          </p:cNvGraphicFramePr>
          <p:nvPr>
            <p:ph idx="1"/>
            <p:extLst>
              <p:ext uri="{D42A27DB-BD31-4B8C-83A1-F6EECF244321}">
                <p14:modId xmlns:p14="http://schemas.microsoft.com/office/powerpoint/2010/main" val="374913659"/>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pic>
        <p:nvPicPr>
          <p:cNvPr id="11266" name="Picture 2" descr="Intro to Pivot Tables, Charts, Interactive Excel Dashboards, &amp; Slicers ...">
            <a:extLst>
              <a:ext uri="{FF2B5EF4-FFF2-40B4-BE49-F238E27FC236}">
                <a16:creationId xmlns:a16="http://schemas.microsoft.com/office/drawing/2014/main" id="{4E450010-1F98-7815-0B59-E6C7F32C3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067" y="2836333"/>
            <a:ext cx="4842933" cy="24214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2BBADA5-5D68-01F5-AE46-749F135A647C}"/>
              </a:ext>
            </a:extLst>
          </p:cNvPr>
          <p:cNvSpPr/>
          <p:nvPr/>
        </p:nvSpPr>
        <p:spPr>
          <a:xfrm>
            <a:off x="5672667" y="1600200"/>
            <a:ext cx="3014133" cy="322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i="1" u="sng" dirty="0">
                <a:solidFill>
                  <a:schemeClr val="tx1"/>
                </a:solidFill>
              </a:rPr>
              <a:t>Microsoft Excel</a:t>
            </a:r>
          </a:p>
          <a:p>
            <a:r>
              <a:rPr lang="en-US" i="1" u="sng" dirty="0">
                <a:solidFill>
                  <a:schemeClr val="tx1"/>
                </a:solidFill>
              </a:rPr>
              <a:t>Pivot Tables</a:t>
            </a:r>
          </a:p>
          <a:p>
            <a:r>
              <a:rPr lang="en-US" i="1" u="sng" dirty="0">
                <a:solidFill>
                  <a:schemeClr val="tx1"/>
                </a:solidFill>
              </a:rPr>
              <a:t>Power Query</a:t>
            </a:r>
          </a:p>
          <a:p>
            <a:r>
              <a:rPr lang="en-US" i="1" u="sng" dirty="0">
                <a:solidFill>
                  <a:schemeClr val="tx1"/>
                </a:solidFill>
              </a:rPr>
              <a:t>Charts and Visualization</a:t>
            </a:r>
          </a:p>
          <a:p>
            <a:r>
              <a:rPr lang="en-US" i="1" u="sng" dirty="0">
                <a:solidFill>
                  <a:schemeClr val="tx1"/>
                </a:solidFill>
              </a:rPr>
              <a:t>Slicers for interactivity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667" y="346076"/>
            <a:ext cx="8229600" cy="1143000"/>
          </a:xfrm>
          <a:ln>
            <a:solidFill>
              <a:schemeClr val="accent2">
                <a:lumMod val="20000"/>
                <a:lumOff val="80000"/>
              </a:schemeClr>
            </a:solidFill>
          </a:ln>
        </p:spPr>
        <p:style>
          <a:lnRef idx="0">
            <a:schemeClr val="accent1"/>
          </a:lnRef>
          <a:fillRef idx="3">
            <a:schemeClr val="accent1"/>
          </a:fillRef>
          <a:effectRef idx="3">
            <a:schemeClr val="accent1"/>
          </a:effectRef>
          <a:fontRef idx="minor">
            <a:schemeClr val="lt1"/>
          </a:fontRef>
        </p:style>
        <p:txBody>
          <a:bodyPr/>
          <a:lstStyle/>
          <a:p>
            <a:r>
              <a:rPr lang="en-US" b="1" dirty="0">
                <a:solidFill>
                  <a:schemeClr val="tx1"/>
                </a:solidFill>
              </a:rPr>
              <a:t>Final Results &amp; Conclusion</a:t>
            </a:r>
            <a:endParaRPr b="1" dirty="0">
              <a:solidFill>
                <a:schemeClr val="tx1"/>
              </a:solidFill>
            </a:endParaRPr>
          </a:p>
        </p:txBody>
      </p:sp>
      <p:sp>
        <p:nvSpPr>
          <p:cNvPr id="4" name="Rectangle 1">
            <a:extLst>
              <a:ext uri="{FF2B5EF4-FFF2-40B4-BE49-F238E27FC236}">
                <a16:creationId xmlns:a16="http://schemas.microsoft.com/office/drawing/2014/main" id="{427594B8-FA79-F8E0-1F9F-3274FF4ECCD1}"/>
              </a:ext>
            </a:extLst>
          </p:cNvPr>
          <p:cNvSpPr>
            <a:spLocks noGrp="1" noChangeArrowheads="1"/>
          </p:cNvSpPr>
          <p:nvPr>
            <p:ph idx="1"/>
          </p:nvPr>
        </p:nvSpPr>
        <p:spPr bwMode="auto">
          <a:xfrm>
            <a:off x="457200" y="2524354"/>
            <a:ext cx="878214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model predicts bike demand with good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Weather and user type are key factors in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Feature engineering improved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Dashboard helps visualize trends and user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Project supports smart planning for bike-sharing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Arial" panose="020B0604020202020204" pitchFamily="34" charset="0"/>
                <a:cs typeface="Arial" panose="020B0604020202020204" pitchFamily="34" charset="0"/>
              </a:rPr>
              <a:t>systems.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Thank You Slide">
            <a:extLst>
              <a:ext uri="{FF2B5EF4-FFF2-40B4-BE49-F238E27FC236}">
                <a16:creationId xmlns:a16="http://schemas.microsoft.com/office/drawing/2014/main" id="{38D36E50-15B5-7B9F-C4D6-F5B1548A5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5258"/>
            <a:ext cx="9144000" cy="7093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51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288</TotalTime>
  <Words>552</Words>
  <Application>Microsoft Office PowerPoint</Application>
  <PresentationFormat>On-screen Show (4:3)</PresentationFormat>
  <Paragraphs>84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Bike Sharing Demand Analysis</vt:lpstr>
      <vt:lpstr>Introduction</vt:lpstr>
      <vt:lpstr>Problem Statement</vt:lpstr>
      <vt:lpstr>Dataset Overview</vt:lpstr>
      <vt:lpstr>Data Cleaning</vt:lpstr>
      <vt:lpstr>Data Merging</vt:lpstr>
      <vt:lpstr>Key Features Created</vt:lpstr>
      <vt:lpstr>Analysis - Hourly Demand</vt:lpstr>
      <vt:lpstr>Analysis - Weather Impact</vt:lpstr>
      <vt:lpstr>Analysis - Monthly Trend</vt:lpstr>
      <vt:lpstr>User Analysis</vt:lpstr>
      <vt:lpstr>Tools Used</vt:lpstr>
      <vt:lpstr>Final Results &amp; Conclusion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Sharing Demand Analysis</dc:title>
  <dc:creator>MPB10</dc:creator>
  <dc:description>generated using python-pptx</dc:description>
  <cp:lastModifiedBy>lenovo</cp:lastModifiedBy>
  <cp:revision>11</cp:revision>
  <dcterms:created xsi:type="dcterms:W3CDTF">2013-01-27T09:14:16Z</dcterms:created>
  <dcterms:modified xsi:type="dcterms:W3CDTF">2026-03-25T08:00:01Z</dcterms:modified>
</cp:coreProperties>
</file>