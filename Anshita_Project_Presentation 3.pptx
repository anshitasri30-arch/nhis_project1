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sldIdLst>
    <p:sldId id="260" r:id="rId2"/>
    <p:sldId id="262" r:id="rId3"/>
    <p:sldId id="263" r:id="rId4"/>
    <p:sldId id="264" r:id="rId5"/>
    <p:sldId id="265" r:id="rId6"/>
    <p:sldId id="266" r:id="rId7"/>
    <p:sldId id="267" r:id="rId8"/>
    <p:sldId id="268" r:id="rId9"/>
    <p:sldId id="269" r:id="rId10"/>
    <p:sldId id="270" r:id="rId11"/>
    <p:sldId id="271" r:id="rId12"/>
    <p:sldId id="272" r:id="rId13"/>
    <p:sldId id="27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6" d="100"/>
          <a:sy n="46" d="100"/>
        </p:scale>
        <p:origin x="1387"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1899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3864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2875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9552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133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350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7781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5613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9747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1052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488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6/10/2026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8540740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25" name="Picture 24" descr="A digital stock market graph">
            <a:extLst>
              <a:ext uri="{FF2B5EF4-FFF2-40B4-BE49-F238E27FC236}">
                <a16:creationId xmlns:a16="http://schemas.microsoft.com/office/drawing/2014/main" id="{44133B0A-CBE2-2FB9-AC0B-C5F19417F13D}"/>
              </a:ext>
            </a:extLst>
          </p:cNvPr>
          <p:cNvPicPr>
            <a:picLocks noChangeAspect="1"/>
          </p:cNvPicPr>
          <p:nvPr/>
        </p:nvPicPr>
        <p:blipFill>
          <a:blip r:embed="rId2"/>
          <a:srcRect l="28091" r="-1" b="-1"/>
          <a:stretch>
            <a:fillRect/>
          </a:stretch>
        </p:blipFill>
        <p:spPr>
          <a:xfrm>
            <a:off x="20" y="10"/>
            <a:ext cx="7252212" cy="6857990"/>
          </a:xfrm>
          <a:prstGeom prst="rect">
            <a:avLst/>
          </a:prstGeom>
        </p:spPr>
      </p:pic>
      <p:sp>
        <p:nvSpPr>
          <p:cNvPr id="26" name="TextBox 25">
            <a:extLst>
              <a:ext uri="{FF2B5EF4-FFF2-40B4-BE49-F238E27FC236}">
                <a16:creationId xmlns:a16="http://schemas.microsoft.com/office/drawing/2014/main" id="{3025A89C-A976-BA58-2A4A-F9172630AF4B}"/>
              </a:ext>
            </a:extLst>
          </p:cNvPr>
          <p:cNvSpPr txBox="1"/>
          <p:nvPr/>
        </p:nvSpPr>
        <p:spPr>
          <a:xfrm>
            <a:off x="5648707" y="2065867"/>
            <a:ext cx="3493006" cy="411109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ormAutofit lnSpcReduction="10000"/>
          </a:bodyPr>
          <a:lstStyle/>
          <a:p>
            <a:pPr indent="-228600" defTabSz="914400">
              <a:lnSpc>
                <a:spcPct val="90000"/>
              </a:lnSpc>
              <a:spcAft>
                <a:spcPts val="600"/>
              </a:spcAft>
              <a:buFont typeface="Arial" panose="020B0604020202020204" pitchFamily="34" charset="0"/>
              <a:buChar char="•"/>
            </a:pPr>
            <a:endParaRPr lang="en-US" sz="2400" b="1" dirty="0"/>
          </a:p>
          <a:p>
            <a:pPr indent="-228600" defTabSz="914400">
              <a:lnSpc>
                <a:spcPct val="90000"/>
              </a:lnSpc>
              <a:spcAft>
                <a:spcPts val="600"/>
              </a:spcAft>
              <a:buFont typeface="Arial" panose="020B0604020202020204" pitchFamily="34" charset="0"/>
              <a:buChar char="•"/>
            </a:pPr>
            <a:r>
              <a:rPr lang="en-US" sz="2400" b="1" i="1" dirty="0"/>
              <a:t>Project Title: Exploratory Data Analysis of Large‑Scale Industry Performance Dataset</a:t>
            </a:r>
          </a:p>
          <a:p>
            <a:pPr indent="-228600" defTabSz="914400">
              <a:lnSpc>
                <a:spcPct val="90000"/>
              </a:lnSpc>
              <a:spcAft>
                <a:spcPts val="600"/>
              </a:spcAft>
              <a:buFont typeface="Arial" panose="020B0604020202020204" pitchFamily="34" charset="0"/>
              <a:buChar char="•"/>
            </a:pPr>
            <a:endParaRPr lang="en-US" sz="2400" dirty="0"/>
          </a:p>
          <a:p>
            <a:pPr indent="-228600" defTabSz="914400">
              <a:lnSpc>
                <a:spcPct val="90000"/>
              </a:lnSpc>
              <a:spcAft>
                <a:spcPts val="600"/>
              </a:spcAft>
              <a:buFont typeface="Arial" panose="020B0604020202020204" pitchFamily="34" charset="0"/>
              <a:buChar char="•"/>
            </a:pPr>
            <a:r>
              <a:rPr lang="en-US" sz="2400" b="1" i="1" dirty="0"/>
              <a:t>Organization: </a:t>
            </a:r>
            <a:r>
              <a:rPr lang="en-US" sz="2400" b="1" i="1" dirty="0" err="1"/>
              <a:t>NextHikes</a:t>
            </a:r>
            <a:r>
              <a:rPr lang="en-US" sz="2400" b="1" i="1" dirty="0"/>
              <a:t> IT Solutions</a:t>
            </a:r>
          </a:p>
          <a:p>
            <a:pPr indent="-228600" defTabSz="914400">
              <a:lnSpc>
                <a:spcPct val="90000"/>
              </a:lnSpc>
              <a:spcAft>
                <a:spcPts val="600"/>
              </a:spcAft>
              <a:buFont typeface="Arial" panose="020B0604020202020204" pitchFamily="34" charset="0"/>
              <a:buChar char="•"/>
            </a:pPr>
            <a:endParaRPr lang="en-US" sz="2400" dirty="0"/>
          </a:p>
          <a:p>
            <a:pPr lvl="1" indent="-228600" defTabSz="914400">
              <a:lnSpc>
                <a:spcPct val="90000"/>
              </a:lnSpc>
              <a:spcAft>
                <a:spcPts val="600"/>
              </a:spcAft>
              <a:buFont typeface="Arial" panose="020B0604020202020204" pitchFamily="34" charset="0"/>
              <a:buChar char="•"/>
            </a:pPr>
            <a:r>
              <a:rPr lang="en-US" sz="2400" b="1" i="1" u="sng" dirty="0"/>
              <a:t>Authors: by Anshita Srivastava</a:t>
            </a:r>
          </a:p>
        </p:txBody>
      </p:sp>
    </p:spTree>
    <p:extLst>
      <p:ext uri="{BB962C8B-B14F-4D97-AF65-F5344CB8AC3E}">
        <p14:creationId xmlns:p14="http://schemas.microsoft.com/office/powerpoint/2010/main" val="198404726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10137-0693-1462-6477-EAAAE6353EBF}"/>
              </a:ext>
            </a:extLst>
          </p:cNvPr>
          <p:cNvSpPr>
            <a:spLocks noGrp="1"/>
          </p:cNvSpPr>
          <p:nvPr>
            <p:ph type="title"/>
          </p:nvPr>
        </p:nvSpPr>
        <p:spPr>
          <a:effectLst>
            <a:outerShdw blurRad="50800" dist="50800" dir="5400000" algn="ctr" rotWithShape="0">
              <a:schemeClr val="bg1">
                <a:lumMod val="85000"/>
              </a:schemeClr>
            </a:outerShdw>
          </a:effectLst>
        </p:spPr>
        <p:txBody>
          <a:bodyPr>
            <a:noAutofit/>
          </a:bodyPr>
          <a:lstStyle/>
          <a:p>
            <a:r>
              <a:rPr lang="en-US" sz="3600" dirty="0">
                <a:solidFill>
                  <a:srgbClr val="FF0000"/>
                </a:solidFill>
              </a:rPr>
              <a:t>Exploratory Data Analysis of Large‑Scale Industry Performance Dataset</a:t>
            </a:r>
          </a:p>
        </p:txBody>
      </p:sp>
      <p:pic>
        <p:nvPicPr>
          <p:cNvPr id="1026" name="Picture 2" descr="Free and customizable analysis templates">
            <a:extLst>
              <a:ext uri="{FF2B5EF4-FFF2-40B4-BE49-F238E27FC236}">
                <a16:creationId xmlns:a16="http://schemas.microsoft.com/office/drawing/2014/main" id="{D86AB3AA-D328-FBA6-CA1E-405CAC807C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05655" y="2365260"/>
            <a:ext cx="6132689" cy="3449638"/>
          </a:xfrm>
          <a:prstGeom prst="rect">
            <a:avLst/>
          </a:prstGeom>
          <a:noFill/>
        </p:spPr>
      </p:pic>
    </p:spTree>
    <p:extLst>
      <p:ext uri="{BB962C8B-B14F-4D97-AF65-F5344CB8AC3E}">
        <p14:creationId xmlns:p14="http://schemas.microsoft.com/office/powerpoint/2010/main" val="23218104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050" name="Picture 2" descr="Corporate Presentation Template | 32+ Unique Creative Slides">
            <a:extLst>
              <a:ext uri="{FF2B5EF4-FFF2-40B4-BE49-F238E27FC236}">
                <a16:creationId xmlns:a16="http://schemas.microsoft.com/office/drawing/2014/main" id="{A33DF523-44E2-C0CF-FA6D-F0C610D3B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11" b="1"/>
          <a:stretch>
            <a:fillRect/>
          </a:stretch>
        </p:blipFill>
        <p:spPr bwMode="auto">
          <a:xfrm>
            <a:off x="342900" y="457200"/>
            <a:ext cx="84582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34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A13F8C-0A0F-0B6E-FD3E-E3A69DE5D06F}"/>
              </a:ext>
            </a:extLst>
          </p:cNvPr>
          <p:cNvSpPr txBox="1"/>
          <p:nvPr/>
        </p:nvSpPr>
        <p:spPr>
          <a:xfrm>
            <a:off x="483798" y="525982"/>
            <a:ext cx="3212237" cy="120036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100" b="1" kern="1200">
                <a:solidFill>
                  <a:schemeClr val="tx1"/>
                </a:solidFill>
                <a:latin typeface="+mj-lt"/>
                <a:ea typeface="+mj-ea"/>
                <a:cs typeface="+mj-cs"/>
              </a:rPr>
              <a:t>Introduction</a:t>
            </a:r>
          </a:p>
        </p:txBody>
      </p:sp>
      <p:sp>
        <p:nvSpPr>
          <p:cNvPr id="4" name="Rectangle 1">
            <a:extLst>
              <a:ext uri="{FF2B5EF4-FFF2-40B4-BE49-F238E27FC236}">
                <a16:creationId xmlns:a16="http://schemas.microsoft.com/office/drawing/2014/main" id="{976172BE-7630-44F9-A49B-975DD1415E8B}"/>
              </a:ext>
            </a:extLst>
          </p:cNvPr>
          <p:cNvSpPr>
            <a:spLocks noChangeArrowheads="1"/>
          </p:cNvSpPr>
          <p:nvPr/>
        </p:nvSpPr>
        <p:spPr bwMode="auto">
          <a:xfrm>
            <a:off x="483799" y="2031101"/>
            <a:ext cx="3212238"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a:ln>
                  <a:noFill/>
                </a:ln>
                <a:effectLst/>
              </a:rPr>
              <a:t>Define </a:t>
            </a:r>
            <a:r>
              <a:rPr kumimoji="0" lang="en-US" altLang="en-US" sz="1600" b="1" i="0" u="none" strike="noStrike" cap="none" normalizeH="0" baseline="0">
                <a:ln>
                  <a:noFill/>
                </a:ln>
                <a:effectLst/>
              </a:rPr>
              <a:t>EDA</a:t>
            </a:r>
            <a:r>
              <a:rPr kumimoji="0" lang="en-US" altLang="en-US" sz="1600" b="0" i="0" u="none" strike="noStrike" cap="none" normalizeH="0" baseline="0">
                <a:ln>
                  <a:noFill/>
                </a:ln>
                <a:effectLst/>
              </a:rPr>
              <a:t>: Statistical process to explore datasets before modeling</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a:ln>
                  <a:noFill/>
                </a:ln>
                <a:effectLst/>
              </a:rPr>
              <a:t>Purpose: Identify trends, relationships, and insights in industry data</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a:ln>
                  <a:noFill/>
                </a:ln>
                <a:effectLst/>
              </a:rPr>
              <a:t>Dataset: 15,000 records, 12 variables</a:t>
            </a:r>
          </a:p>
        </p:txBody>
      </p:sp>
      <p:pic>
        <p:nvPicPr>
          <p:cNvPr id="12" name="Picture 11">
            <a:extLst>
              <a:ext uri="{FF2B5EF4-FFF2-40B4-BE49-F238E27FC236}">
                <a16:creationId xmlns:a16="http://schemas.microsoft.com/office/drawing/2014/main" id="{B8CBBA9C-D28A-1235-00A4-09FC61FC8C3A}"/>
              </a:ext>
            </a:extLst>
          </p:cNvPr>
          <p:cNvPicPr>
            <a:picLocks noChangeAspect="1"/>
          </p:cNvPicPr>
          <p:nvPr/>
        </p:nvPicPr>
        <p:blipFill>
          <a:blip r:embed="rId2"/>
          <a:stretch>
            <a:fillRect/>
          </a:stretch>
        </p:blipFill>
        <p:spPr>
          <a:xfrm>
            <a:off x="4490802" y="1320800"/>
            <a:ext cx="4370419" cy="3657599"/>
          </a:xfrm>
          <a:prstGeom prst="rect">
            <a:avLst/>
          </a:prstGeom>
        </p:spPr>
      </p:pic>
    </p:spTree>
    <p:extLst>
      <p:ext uri="{BB962C8B-B14F-4D97-AF65-F5344CB8AC3E}">
        <p14:creationId xmlns:p14="http://schemas.microsoft.com/office/powerpoint/2010/main" val="26518041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alpha val="87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6995A2-3FE4-17A7-90DF-9517758817D0}"/>
              </a:ext>
            </a:extLst>
          </p:cNvPr>
          <p:cNvSpPr txBox="1"/>
          <p:nvPr/>
        </p:nvSpPr>
        <p:spPr>
          <a:xfrm>
            <a:off x="278320" y="2718054"/>
            <a:ext cx="2579180" cy="3207258"/>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500">
                <a:effectLst/>
              </a:rPr>
              <a:t>Objectives:</a:t>
            </a:r>
            <a:endParaRPr lang="en-US" sz="1500"/>
          </a:p>
          <a:p>
            <a:pPr indent="-228600" defTabSz="914400">
              <a:lnSpc>
                <a:spcPct val="90000"/>
              </a:lnSpc>
              <a:spcAft>
                <a:spcPts val="600"/>
              </a:spcAft>
              <a:buFont typeface="Arial" panose="020B0604020202020204" pitchFamily="34" charset="0"/>
              <a:buChar char="•"/>
            </a:pPr>
            <a:r>
              <a:rPr lang="en-US" sz="1500">
                <a:effectLst/>
              </a:rPr>
              <a:t>Univariate Analysis</a:t>
            </a:r>
            <a:endParaRPr lang="en-US" sz="1500"/>
          </a:p>
          <a:p>
            <a:pPr indent="-228600" defTabSz="914400">
              <a:lnSpc>
                <a:spcPct val="90000"/>
              </a:lnSpc>
              <a:spcAft>
                <a:spcPts val="600"/>
              </a:spcAft>
              <a:buFont typeface="Arial" panose="020B0604020202020204" pitchFamily="34" charset="0"/>
              <a:buChar char="•"/>
            </a:pPr>
            <a:r>
              <a:rPr lang="en-US" sz="1500">
                <a:effectLst/>
              </a:rPr>
              <a:t>Bivariate Analysis</a:t>
            </a:r>
            <a:endParaRPr lang="en-US" sz="1500"/>
          </a:p>
          <a:p>
            <a:pPr indent="-228600" defTabSz="914400">
              <a:lnSpc>
                <a:spcPct val="90000"/>
              </a:lnSpc>
              <a:spcAft>
                <a:spcPts val="600"/>
              </a:spcAft>
              <a:buFont typeface="Arial" panose="020B0604020202020204" pitchFamily="34" charset="0"/>
              <a:buChar char="•"/>
            </a:pPr>
            <a:r>
              <a:rPr lang="en-US" sz="1500">
                <a:effectLst/>
              </a:rPr>
              <a:t>Multivariate Analysis</a:t>
            </a:r>
            <a:endParaRPr lang="en-US" sz="1500"/>
          </a:p>
          <a:p>
            <a:pPr indent="-228600" defTabSz="914400">
              <a:lnSpc>
                <a:spcPct val="90000"/>
              </a:lnSpc>
              <a:spcAft>
                <a:spcPts val="600"/>
              </a:spcAft>
              <a:buFont typeface="Arial" panose="020B0604020202020204" pitchFamily="34" charset="0"/>
              <a:buChar char="•"/>
            </a:pPr>
            <a:r>
              <a:rPr lang="en-US" sz="1500">
                <a:effectLst/>
              </a:rPr>
              <a:t>Outlier Detection</a:t>
            </a:r>
            <a:endParaRPr lang="en-US" sz="1500"/>
          </a:p>
          <a:p>
            <a:pPr indent="-228600" defTabSz="914400">
              <a:lnSpc>
                <a:spcPct val="90000"/>
              </a:lnSpc>
              <a:spcAft>
                <a:spcPts val="600"/>
              </a:spcAft>
              <a:buFont typeface="Arial" panose="020B0604020202020204" pitchFamily="34" charset="0"/>
              <a:buChar char="•"/>
            </a:pPr>
            <a:r>
              <a:rPr lang="en-US" sz="1500">
                <a:effectLst/>
              </a:rPr>
              <a:t>Correlation Study</a:t>
            </a:r>
            <a:endParaRPr lang="en-US" sz="1500"/>
          </a:p>
          <a:p>
            <a:pPr indent="-228600" defTabSz="914400">
              <a:lnSpc>
                <a:spcPct val="90000"/>
              </a:lnSpc>
              <a:spcAft>
                <a:spcPts val="600"/>
              </a:spcAft>
              <a:buFont typeface="Arial" panose="020B0604020202020204" pitchFamily="34" charset="0"/>
              <a:buChar char="•"/>
            </a:pPr>
            <a:r>
              <a:rPr lang="en-US" sz="1500">
                <a:effectLst/>
              </a:rPr>
              <a:t>Skewness &amp; Kurtosis</a:t>
            </a:r>
            <a:endParaRPr lang="en-US" sz="1500"/>
          </a:p>
        </p:txBody>
      </p:sp>
      <p:pic>
        <p:nvPicPr>
          <p:cNvPr id="7" name="Picture 6">
            <a:extLst>
              <a:ext uri="{FF2B5EF4-FFF2-40B4-BE49-F238E27FC236}">
                <a16:creationId xmlns:a16="http://schemas.microsoft.com/office/drawing/2014/main" id="{33423287-A1EF-BF8C-43AA-4410253A4193}"/>
              </a:ext>
            </a:extLst>
          </p:cNvPr>
          <p:cNvPicPr>
            <a:picLocks noChangeAspect="1"/>
          </p:cNvPicPr>
          <p:nvPr/>
        </p:nvPicPr>
        <p:blipFill>
          <a:blip r:embed="rId2"/>
          <a:stretch>
            <a:fillRect/>
          </a:stretch>
        </p:blipFill>
        <p:spPr>
          <a:xfrm>
            <a:off x="3675888" y="1532477"/>
            <a:ext cx="5191506" cy="3893629"/>
          </a:xfrm>
          <a:prstGeom prst="rect">
            <a:avLst/>
          </a:prstGeom>
        </p:spPr>
      </p:pic>
    </p:spTree>
    <p:extLst>
      <p:ext uri="{BB962C8B-B14F-4D97-AF65-F5344CB8AC3E}">
        <p14:creationId xmlns:p14="http://schemas.microsoft.com/office/powerpoint/2010/main" val="318618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699553-B1AA-5B23-E31A-D23BB2951316}"/>
              </a:ext>
            </a:extLst>
          </p:cNvPr>
          <p:cNvSpPr txBox="1"/>
          <p:nvPr/>
        </p:nvSpPr>
        <p:spPr>
          <a:xfrm>
            <a:off x="491067" y="296672"/>
            <a:ext cx="5130800" cy="1938992"/>
          </a:xfrm>
          <a:prstGeom prst="rect">
            <a:avLst/>
          </a:prstGeom>
          <a:noFill/>
        </p:spPr>
        <p:txBody>
          <a:bodyPr wrap="square">
            <a:spAutoFit/>
          </a:bodyPr>
          <a:lstStyle/>
          <a:p>
            <a:r>
              <a:rPr lang="en-US" sz="2000" b="1" dirty="0"/>
              <a:t>Univariate Analysis</a:t>
            </a:r>
            <a:r>
              <a:rPr lang="en-US" sz="2000" dirty="0"/>
              <a:t> focuses on studying one variable at a time to understand its distribution, average values, and spread. For example, analyzing company revenue alone helps reveal whether most firms earn moderate amounts or if a few generate extremely high revenue.</a:t>
            </a:r>
          </a:p>
        </p:txBody>
      </p:sp>
      <p:sp>
        <p:nvSpPr>
          <p:cNvPr id="5" name="TextBox 4">
            <a:extLst>
              <a:ext uri="{FF2B5EF4-FFF2-40B4-BE49-F238E27FC236}">
                <a16:creationId xmlns:a16="http://schemas.microsoft.com/office/drawing/2014/main" id="{879AF5B2-4FAD-DA55-773D-CDCA3E2B9DD1}"/>
              </a:ext>
            </a:extLst>
          </p:cNvPr>
          <p:cNvSpPr txBox="1"/>
          <p:nvPr/>
        </p:nvSpPr>
        <p:spPr>
          <a:xfrm>
            <a:off x="491067" y="2442613"/>
            <a:ext cx="4572000" cy="2246769"/>
          </a:xfrm>
          <a:prstGeom prst="rect">
            <a:avLst/>
          </a:prstGeom>
          <a:noFill/>
        </p:spPr>
        <p:txBody>
          <a:bodyPr wrap="square">
            <a:spAutoFit/>
          </a:bodyPr>
          <a:lstStyle/>
          <a:p>
            <a:r>
              <a:rPr lang="en-US" sz="2000" b="1" dirty="0"/>
              <a:t>Bivariate Analysis</a:t>
            </a:r>
            <a:r>
              <a:rPr lang="en-US" sz="2000" dirty="0"/>
              <a:t> examines the relationship between two variables, such as employee count and annual revenue. This helps identify whether larger workforces are linked to higher earnings or if customer numbers drive revenue growth.</a:t>
            </a:r>
          </a:p>
        </p:txBody>
      </p:sp>
      <p:sp>
        <p:nvSpPr>
          <p:cNvPr id="7" name="TextBox 6">
            <a:extLst>
              <a:ext uri="{FF2B5EF4-FFF2-40B4-BE49-F238E27FC236}">
                <a16:creationId xmlns:a16="http://schemas.microsoft.com/office/drawing/2014/main" id="{01C8B4D6-670C-0E61-5DBC-2165E2B9846D}"/>
              </a:ext>
            </a:extLst>
          </p:cNvPr>
          <p:cNvSpPr txBox="1"/>
          <p:nvPr/>
        </p:nvSpPr>
        <p:spPr>
          <a:xfrm>
            <a:off x="491067" y="4689382"/>
            <a:ext cx="4572000" cy="2062103"/>
          </a:xfrm>
          <a:prstGeom prst="rect">
            <a:avLst/>
          </a:prstGeom>
          <a:noFill/>
        </p:spPr>
        <p:txBody>
          <a:bodyPr wrap="square">
            <a:spAutoFit/>
          </a:bodyPr>
          <a:lstStyle/>
          <a:p>
            <a:r>
              <a:rPr lang="en-US" b="1" dirty="0"/>
              <a:t>Multivariate Analysis</a:t>
            </a:r>
            <a:r>
              <a:rPr lang="en-US" dirty="0"/>
              <a:t> looks at three or more </a:t>
            </a:r>
            <a:r>
              <a:rPr lang="en-US" sz="2000" dirty="0"/>
              <a:t>variables</a:t>
            </a:r>
            <a:r>
              <a:rPr lang="en-US" dirty="0"/>
              <a:t> together to uncover complex patterns. For instance, combining industry, revenue, and employee count shows that technology firms with bigger teams often achieve the highest revenues compared to other sectors.</a:t>
            </a:r>
          </a:p>
        </p:txBody>
      </p:sp>
    </p:spTree>
    <p:extLst>
      <p:ext uri="{BB962C8B-B14F-4D97-AF65-F5344CB8AC3E}">
        <p14:creationId xmlns:p14="http://schemas.microsoft.com/office/powerpoint/2010/main" val="340911291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C23F32-8CFD-ED82-EE3B-CA5F078E8B2F}"/>
              </a:ext>
            </a:extLst>
          </p:cNvPr>
          <p:cNvSpPr txBox="1"/>
          <p:nvPr/>
        </p:nvSpPr>
        <p:spPr>
          <a:xfrm>
            <a:off x="643467" y="795867"/>
            <a:ext cx="6214533" cy="5632311"/>
          </a:xfrm>
          <a:prstGeom prst="rect">
            <a:avLst/>
          </a:prstGeom>
          <a:noFill/>
        </p:spPr>
        <p:txBody>
          <a:bodyPr wrap="square">
            <a:spAutoFit/>
          </a:bodyPr>
          <a:lstStyle/>
          <a:p>
            <a:pPr>
              <a:buNone/>
            </a:pPr>
            <a:r>
              <a:rPr lang="en-US" sz="2000" b="1" dirty="0">
                <a:effectLst/>
              </a:rPr>
              <a:t>Outlier Detection</a:t>
            </a:r>
            <a:r>
              <a:rPr lang="en-US" sz="2000" dirty="0">
                <a:effectLst/>
              </a:rPr>
              <a:t> identifies unusual values that fall far outside the normal range. These outliers, such as extremely high revenues or customer counts, often represent large multinational enterprises and provide important insights into exceptional business scenarios.</a:t>
            </a:r>
          </a:p>
          <a:p>
            <a:pPr>
              <a:buNone/>
            </a:pPr>
            <a:endParaRPr lang="en-US" sz="2000" dirty="0"/>
          </a:p>
          <a:p>
            <a:pPr>
              <a:buNone/>
            </a:pPr>
            <a:r>
              <a:rPr lang="en-US" sz="2000" b="1" dirty="0">
                <a:effectLst/>
              </a:rPr>
              <a:t>Correlation Study</a:t>
            </a:r>
            <a:r>
              <a:rPr lang="en-US" sz="2000" dirty="0">
                <a:effectLst/>
              </a:rPr>
              <a:t> measures how strongly two numerical variables move together. For example, annual revenue is strongly correlated with both employee count and customer count, meaning companies with more employees and customers generally earn more.</a:t>
            </a:r>
          </a:p>
          <a:p>
            <a:pPr>
              <a:buNone/>
            </a:pPr>
            <a:endParaRPr lang="en-US" sz="2000" dirty="0"/>
          </a:p>
          <a:p>
            <a:pPr>
              <a:buNone/>
            </a:pPr>
            <a:r>
              <a:rPr lang="en-US" sz="2000" b="1" dirty="0">
                <a:effectLst/>
              </a:rPr>
              <a:t>Skewness and Kurtosis</a:t>
            </a:r>
            <a:r>
              <a:rPr lang="en-US" sz="2000" dirty="0">
                <a:effectLst/>
              </a:rPr>
              <a:t> describe the shape of data distributions. Positive skewness indicates that </a:t>
            </a:r>
            <a:r>
              <a:rPr lang="en-US" sz="2000" dirty="0"/>
              <a:t>most companies operate at a moderate scale while a few dominate with very high values. High kurtosis highlights the presence of extreme cases, such as very large enterprises, which shape overall industry performance.</a:t>
            </a:r>
          </a:p>
        </p:txBody>
      </p:sp>
    </p:spTree>
    <p:extLst>
      <p:ext uri="{BB962C8B-B14F-4D97-AF65-F5344CB8AC3E}">
        <p14:creationId xmlns:p14="http://schemas.microsoft.com/office/powerpoint/2010/main" val="308335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AE42D8-EC33-E4B1-E118-52E2A1E2BAB8}"/>
              </a:ext>
            </a:extLst>
          </p:cNvPr>
          <p:cNvPicPr>
            <a:picLocks noChangeAspect="1"/>
          </p:cNvPicPr>
          <p:nvPr/>
        </p:nvPicPr>
        <p:blipFill>
          <a:blip r:embed="rId2"/>
          <a:srcRect t="1558" b="27869"/>
          <a:stretch>
            <a:fillRect/>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TextBox 2">
            <a:extLst>
              <a:ext uri="{FF2B5EF4-FFF2-40B4-BE49-F238E27FC236}">
                <a16:creationId xmlns:a16="http://schemas.microsoft.com/office/drawing/2014/main" id="{B14A57F0-CCE6-9B2C-F0B9-2CA0C17BE81C}"/>
              </a:ext>
            </a:extLst>
          </p:cNvPr>
          <p:cNvSpPr txBox="1"/>
          <p:nvPr/>
        </p:nvSpPr>
        <p:spPr>
          <a:xfrm>
            <a:off x="3167986" y="3752850"/>
            <a:ext cx="5614060" cy="245268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600" b="1"/>
              <a:t>Dataset Overview</a:t>
            </a:r>
          </a:p>
          <a:p>
            <a:pPr indent="-228600" defTabSz="914400">
              <a:lnSpc>
                <a:spcPct val="90000"/>
              </a:lnSpc>
              <a:spcAft>
                <a:spcPts val="600"/>
              </a:spcAft>
              <a:buFont typeface="Arial" panose="020B0604020202020204" pitchFamily="34" charset="0"/>
              <a:buChar char="•"/>
            </a:pPr>
            <a:r>
              <a:rPr lang="en-US" sz="1600">
                <a:effectLst/>
              </a:rPr>
              <a:t>Rows: 15,000 | Columns: 12</a:t>
            </a:r>
            <a:endParaRPr lang="en-US" sz="1600"/>
          </a:p>
          <a:p>
            <a:pPr indent="-228600" defTabSz="914400">
              <a:lnSpc>
                <a:spcPct val="90000"/>
              </a:lnSpc>
              <a:spcAft>
                <a:spcPts val="600"/>
              </a:spcAft>
              <a:buFont typeface="Arial" panose="020B0604020202020204" pitchFamily="34" charset="0"/>
              <a:buChar char="•"/>
            </a:pPr>
            <a:r>
              <a:rPr lang="en-US" sz="1600">
                <a:effectLst/>
              </a:rPr>
              <a:t>Data Types: Numerical, Categorical, Date</a:t>
            </a:r>
            <a:endParaRPr lang="en-US" sz="1600"/>
          </a:p>
          <a:p>
            <a:pPr indent="-228600" defTabSz="914400">
              <a:lnSpc>
                <a:spcPct val="90000"/>
              </a:lnSpc>
              <a:spcAft>
                <a:spcPts val="600"/>
              </a:spcAft>
              <a:buFont typeface="Arial" panose="020B0604020202020204" pitchFamily="34" charset="0"/>
              <a:buChar char="•"/>
            </a:pPr>
            <a:r>
              <a:rPr lang="en-US" sz="1600">
                <a:effectLst/>
              </a:rPr>
              <a:t>Features: id, company name, industry, country, employee_count, annual_revenue_million, profit_margin_percent, founded_year, customer_count, market_rating, created_date, region</a:t>
            </a:r>
            <a:endParaRPr lang="en-US" sz="1600"/>
          </a:p>
        </p:txBody>
      </p:sp>
    </p:spTree>
    <p:extLst>
      <p:ext uri="{BB962C8B-B14F-4D97-AF65-F5344CB8AC3E}">
        <p14:creationId xmlns:p14="http://schemas.microsoft.com/office/powerpoint/2010/main" val="3043061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099F1D-E33E-13C2-740A-7E574EB6D746}"/>
              </a:ext>
            </a:extLst>
          </p:cNvPr>
          <p:cNvPicPr>
            <a:picLocks noChangeAspect="1"/>
          </p:cNvPicPr>
          <p:nvPr/>
        </p:nvPicPr>
        <p:blipFill>
          <a:blip r:embed="rId2"/>
          <a:srcRect r="8611" b="-1"/>
          <a:stretch>
            <a:fillRect/>
          </a:stretch>
        </p:blipFill>
        <p:spPr>
          <a:xfrm>
            <a:off x="209357" y="299508"/>
            <a:ext cx="3916219" cy="3010397"/>
          </a:xfrm>
          <a:prstGeom prst="rect">
            <a:avLst/>
          </a:prstGeom>
        </p:spPr>
      </p:pic>
      <p:pic>
        <p:nvPicPr>
          <p:cNvPr id="9" name="Picture 8">
            <a:extLst>
              <a:ext uri="{FF2B5EF4-FFF2-40B4-BE49-F238E27FC236}">
                <a16:creationId xmlns:a16="http://schemas.microsoft.com/office/drawing/2014/main" id="{409BA20D-E250-284E-ABCC-D13010EE1F89}"/>
              </a:ext>
            </a:extLst>
          </p:cNvPr>
          <p:cNvPicPr>
            <a:picLocks noChangeAspect="1"/>
          </p:cNvPicPr>
          <p:nvPr/>
        </p:nvPicPr>
        <p:blipFill>
          <a:blip r:embed="rId3"/>
          <a:srcRect l="4324" r="8842" b="1"/>
          <a:stretch>
            <a:fillRect/>
          </a:stretch>
        </p:blipFill>
        <p:spPr>
          <a:xfrm>
            <a:off x="209357" y="3548095"/>
            <a:ext cx="3916219" cy="3010397"/>
          </a:xfrm>
          <a:prstGeom prst="rect">
            <a:avLst/>
          </a:prstGeom>
        </p:spPr>
      </p:pic>
      <p:sp>
        <p:nvSpPr>
          <p:cNvPr id="3" name="TextBox 2">
            <a:extLst>
              <a:ext uri="{FF2B5EF4-FFF2-40B4-BE49-F238E27FC236}">
                <a16:creationId xmlns:a16="http://schemas.microsoft.com/office/drawing/2014/main" id="{630DE434-7D22-8CDE-F1B4-6F37F0CCA29A}"/>
              </a:ext>
            </a:extLst>
          </p:cNvPr>
          <p:cNvSpPr txBox="1"/>
          <p:nvPr/>
        </p:nvSpPr>
        <p:spPr>
          <a:xfrm>
            <a:off x="4909202" y="1342866"/>
            <a:ext cx="3780419" cy="429593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700" b="1" dirty="0">
                <a:solidFill>
                  <a:schemeClr val="tx1">
                    <a:alpha val="80000"/>
                  </a:schemeClr>
                </a:solidFill>
              </a:rPr>
              <a:t>Univariate Analysis</a:t>
            </a:r>
          </a:p>
          <a:p>
            <a:pPr indent="-228600" defTabSz="914400">
              <a:lnSpc>
                <a:spcPct val="90000"/>
              </a:lnSpc>
              <a:spcAft>
                <a:spcPts val="600"/>
              </a:spcAft>
              <a:buFont typeface="Arial" panose="020B0604020202020204" pitchFamily="34" charset="0"/>
              <a:buChar char="•"/>
            </a:pPr>
            <a:r>
              <a:rPr lang="en-US" sz="1700" b="1" dirty="0">
                <a:solidFill>
                  <a:schemeClr val="tx1">
                    <a:alpha val="80000"/>
                  </a:schemeClr>
                </a:solidFill>
                <a:effectLst/>
              </a:rPr>
              <a:t>Numerical Variables:</a:t>
            </a:r>
            <a:r>
              <a:rPr lang="en-US" sz="1700" dirty="0">
                <a:solidFill>
                  <a:schemeClr val="tx1">
                    <a:alpha val="80000"/>
                  </a:schemeClr>
                </a:solidFill>
                <a:effectLst/>
              </a:rPr>
              <a:t> Mean, Median, Std Dev, </a:t>
            </a:r>
            <a:r>
              <a:rPr lang="en-US" sz="3200" dirty="0">
                <a:solidFill>
                  <a:schemeClr val="tx1">
                    <a:alpha val="80000"/>
                  </a:schemeClr>
                </a:solidFill>
                <a:effectLst/>
              </a:rPr>
              <a:t>Skewness</a:t>
            </a:r>
            <a:r>
              <a:rPr lang="en-US" sz="1700" dirty="0">
                <a:solidFill>
                  <a:schemeClr val="tx1">
                    <a:alpha val="80000"/>
                  </a:schemeClr>
                </a:solidFill>
                <a:effectLst/>
              </a:rPr>
              <a:t>, Kurtosis</a:t>
            </a:r>
            <a:endParaRPr lang="en-US" sz="1700" dirty="0">
              <a:solidFill>
                <a:schemeClr val="tx1">
                  <a:alpha val="80000"/>
                </a:schemeClr>
              </a:solidFill>
            </a:endParaRPr>
          </a:p>
          <a:p>
            <a:pPr indent="-228600" defTabSz="914400">
              <a:lnSpc>
                <a:spcPct val="90000"/>
              </a:lnSpc>
              <a:spcAft>
                <a:spcPts val="600"/>
              </a:spcAft>
              <a:buFont typeface="Arial" panose="020B0604020202020204" pitchFamily="34" charset="0"/>
              <a:buChar char="•"/>
            </a:pPr>
            <a:r>
              <a:rPr lang="en-US" sz="1700" b="1" dirty="0">
                <a:solidFill>
                  <a:schemeClr val="tx1">
                    <a:alpha val="80000"/>
                  </a:schemeClr>
                </a:solidFill>
                <a:effectLst/>
              </a:rPr>
              <a:t>Categorical Variables:</a:t>
            </a:r>
            <a:r>
              <a:rPr lang="en-US" sz="1700" dirty="0">
                <a:solidFill>
                  <a:schemeClr val="tx1">
                    <a:alpha val="80000"/>
                  </a:schemeClr>
                </a:solidFill>
                <a:effectLst/>
              </a:rPr>
              <a:t> Frequency distributions</a:t>
            </a:r>
            <a:endParaRPr lang="en-US" sz="1700" dirty="0">
              <a:solidFill>
                <a:schemeClr val="tx1">
                  <a:alpha val="80000"/>
                </a:schemeClr>
              </a:solidFill>
            </a:endParaRPr>
          </a:p>
          <a:p>
            <a:pPr indent="-228600" defTabSz="914400">
              <a:lnSpc>
                <a:spcPct val="90000"/>
              </a:lnSpc>
              <a:spcAft>
                <a:spcPts val="600"/>
              </a:spcAft>
              <a:buFont typeface="Arial" panose="020B0604020202020204" pitchFamily="34" charset="0"/>
              <a:buChar char="•"/>
            </a:pPr>
            <a:r>
              <a:rPr lang="en-US" sz="1700" dirty="0">
                <a:solidFill>
                  <a:schemeClr val="tx1">
                    <a:alpha val="80000"/>
                  </a:schemeClr>
                </a:solidFill>
                <a:effectLst/>
              </a:rPr>
              <a:t>Example Insights:</a:t>
            </a:r>
            <a:endParaRPr lang="en-US" sz="1700" dirty="0">
              <a:solidFill>
                <a:schemeClr val="tx1">
                  <a:alpha val="80000"/>
                </a:schemeClr>
              </a:solidFill>
            </a:endParaRPr>
          </a:p>
          <a:p>
            <a:pPr marL="742950" lvl="1" indent="-228600" defTabSz="914400">
              <a:lnSpc>
                <a:spcPct val="90000"/>
              </a:lnSpc>
              <a:spcAft>
                <a:spcPts val="600"/>
              </a:spcAft>
              <a:buFont typeface="Arial" panose="020B0604020202020204" pitchFamily="34" charset="0"/>
              <a:buChar char="•"/>
            </a:pPr>
            <a:r>
              <a:rPr lang="en-US" sz="1700" dirty="0">
                <a:solidFill>
                  <a:schemeClr val="tx1">
                    <a:alpha val="80000"/>
                  </a:schemeClr>
                </a:solidFill>
                <a:effectLst/>
              </a:rPr>
              <a:t>Revenue positively skewed</a:t>
            </a:r>
            <a:endParaRPr lang="en-US" sz="1700" dirty="0">
              <a:solidFill>
                <a:schemeClr val="tx1">
                  <a:alpha val="80000"/>
                </a:schemeClr>
              </a:solidFill>
            </a:endParaRPr>
          </a:p>
          <a:p>
            <a:pPr marL="742950" lvl="1" indent="-228600" defTabSz="914400">
              <a:lnSpc>
                <a:spcPct val="90000"/>
              </a:lnSpc>
              <a:spcAft>
                <a:spcPts val="600"/>
              </a:spcAft>
              <a:buFont typeface="Arial" panose="020B0604020202020204" pitchFamily="34" charset="0"/>
              <a:buChar char="•"/>
            </a:pPr>
            <a:r>
              <a:rPr lang="en-US" sz="1700" dirty="0">
                <a:solidFill>
                  <a:schemeClr val="tx1">
                    <a:alpha val="80000"/>
                  </a:schemeClr>
                </a:solidFill>
                <a:effectLst/>
              </a:rPr>
              <a:t>Employee count variance high</a:t>
            </a:r>
            <a:endParaRPr lang="en-US" sz="1700" dirty="0">
              <a:solidFill>
                <a:schemeClr val="tx1">
                  <a:alpha val="80000"/>
                </a:schemeClr>
              </a:solidFill>
            </a:endParaRPr>
          </a:p>
          <a:p>
            <a:pPr marL="742950" lvl="1" indent="-228600" defTabSz="914400">
              <a:lnSpc>
                <a:spcPct val="90000"/>
              </a:lnSpc>
              <a:spcAft>
                <a:spcPts val="600"/>
              </a:spcAft>
              <a:buFont typeface="Arial" panose="020B0604020202020204" pitchFamily="34" charset="0"/>
              <a:buChar char="•"/>
            </a:pPr>
            <a:r>
              <a:rPr lang="en-US" sz="1700" dirty="0">
                <a:solidFill>
                  <a:schemeClr val="tx1">
                    <a:alpha val="80000"/>
                  </a:schemeClr>
                </a:solidFill>
                <a:effectLst/>
              </a:rPr>
              <a:t>Retail sector → large customer bases</a:t>
            </a:r>
            <a:endParaRPr lang="en-US" sz="1700" dirty="0">
              <a:solidFill>
                <a:schemeClr val="tx1">
                  <a:alpha val="80000"/>
                </a:schemeClr>
              </a:solidFill>
            </a:endParaRPr>
          </a:p>
        </p:txBody>
      </p:sp>
    </p:spTree>
    <p:extLst>
      <p:ext uri="{BB962C8B-B14F-4D97-AF65-F5344CB8AC3E}">
        <p14:creationId xmlns:p14="http://schemas.microsoft.com/office/powerpoint/2010/main" val="3928019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A023DF-BF17-E3FC-1ACE-EF72B8DEFF9A}"/>
              </a:ext>
            </a:extLst>
          </p:cNvPr>
          <p:cNvSpPr txBox="1"/>
          <p:nvPr/>
        </p:nvSpPr>
        <p:spPr>
          <a:xfrm>
            <a:off x="152401" y="524995"/>
            <a:ext cx="4572000" cy="1754326"/>
          </a:xfrm>
          <a:prstGeom prst="rect">
            <a:avLst/>
          </a:prstGeom>
          <a:noFill/>
        </p:spPr>
        <p:txBody>
          <a:bodyPr wrap="square">
            <a:spAutoFit/>
          </a:bodyPr>
          <a:lstStyle/>
          <a:p>
            <a:pPr>
              <a:buNone/>
            </a:pPr>
            <a:r>
              <a:rPr lang="en-US" b="1" dirty="0"/>
              <a:t>Outlier Detection</a:t>
            </a:r>
          </a:p>
          <a:p>
            <a:pPr>
              <a:buFont typeface="Arial" panose="020B0604020202020204" pitchFamily="34" charset="0"/>
              <a:buChar char="•"/>
            </a:pPr>
            <a:r>
              <a:rPr lang="en-US" dirty="0">
                <a:effectLst/>
              </a:rPr>
              <a:t>Methods: Boxplots, IQR, Z‑score</a:t>
            </a:r>
            <a:endParaRPr lang="en-US" dirty="0"/>
          </a:p>
          <a:p>
            <a:pPr>
              <a:buFont typeface="Arial" panose="020B0604020202020204" pitchFamily="34" charset="0"/>
              <a:buChar char="•"/>
            </a:pPr>
            <a:r>
              <a:rPr lang="en-US" dirty="0">
                <a:effectLst/>
              </a:rPr>
              <a:t>Findings:</a:t>
            </a:r>
            <a:endParaRPr lang="en-US" dirty="0"/>
          </a:p>
          <a:p>
            <a:pPr marL="742950" lvl="1" indent="-285750">
              <a:buFont typeface="Arial" panose="020B0604020202020204" pitchFamily="34" charset="0"/>
              <a:buChar char="•"/>
            </a:pPr>
            <a:r>
              <a:rPr lang="en-US" dirty="0">
                <a:effectLst/>
              </a:rPr>
              <a:t>Extreme revenue values</a:t>
            </a:r>
            <a:endParaRPr lang="en-US" dirty="0"/>
          </a:p>
          <a:p>
            <a:pPr marL="742950" lvl="1" indent="-285750">
              <a:buFont typeface="Arial" panose="020B0604020202020204" pitchFamily="34" charset="0"/>
              <a:buChar char="•"/>
            </a:pPr>
            <a:r>
              <a:rPr lang="en-US" dirty="0">
                <a:effectLst/>
              </a:rPr>
              <a:t>High employee counts in MNCs</a:t>
            </a:r>
            <a:endParaRPr lang="en-US" dirty="0"/>
          </a:p>
          <a:p>
            <a:pPr marL="742950" lvl="1" indent="-285750">
              <a:buFont typeface="Arial" panose="020B0604020202020204" pitchFamily="34" charset="0"/>
              <a:buChar char="•"/>
            </a:pPr>
            <a:r>
              <a:rPr lang="en-US" dirty="0">
                <a:effectLst/>
              </a:rPr>
              <a:t>Large customer bases in Retail</a:t>
            </a:r>
            <a:endParaRPr lang="en-US" dirty="0"/>
          </a:p>
        </p:txBody>
      </p:sp>
      <p:sp>
        <p:nvSpPr>
          <p:cNvPr id="5" name="TextBox 4">
            <a:extLst>
              <a:ext uri="{FF2B5EF4-FFF2-40B4-BE49-F238E27FC236}">
                <a16:creationId xmlns:a16="http://schemas.microsoft.com/office/drawing/2014/main" id="{47D2BA43-D612-54E3-8496-753DDE659517}"/>
              </a:ext>
            </a:extLst>
          </p:cNvPr>
          <p:cNvSpPr txBox="1"/>
          <p:nvPr/>
        </p:nvSpPr>
        <p:spPr>
          <a:xfrm>
            <a:off x="152401" y="2764518"/>
            <a:ext cx="4572000" cy="2031325"/>
          </a:xfrm>
          <a:prstGeom prst="rect">
            <a:avLst/>
          </a:prstGeom>
          <a:noFill/>
        </p:spPr>
        <p:txBody>
          <a:bodyPr wrap="square">
            <a:spAutoFit/>
          </a:bodyPr>
          <a:lstStyle/>
          <a:p>
            <a:pPr>
              <a:buNone/>
            </a:pPr>
            <a:r>
              <a:rPr lang="en-US" b="1" dirty="0"/>
              <a:t>Bivariate Analysis</a:t>
            </a:r>
          </a:p>
          <a:p>
            <a:pPr>
              <a:buFont typeface="Arial" panose="020B0604020202020204" pitchFamily="34" charset="0"/>
              <a:buChar char="•"/>
            </a:pPr>
            <a:r>
              <a:rPr lang="en-US" b="1" dirty="0">
                <a:effectLst/>
              </a:rPr>
              <a:t>Numerical vs Numerical:</a:t>
            </a:r>
            <a:r>
              <a:rPr lang="en-US" dirty="0">
                <a:effectLst/>
              </a:rPr>
              <a:t> Pearson correlation</a:t>
            </a:r>
            <a:endParaRPr lang="en-US" dirty="0"/>
          </a:p>
          <a:p>
            <a:pPr marL="742950" lvl="1" indent="-285750">
              <a:buFont typeface="Arial" panose="020B0604020202020204" pitchFamily="34" charset="0"/>
              <a:buChar char="•"/>
            </a:pPr>
            <a:r>
              <a:rPr lang="en-US" dirty="0">
                <a:effectLst/>
              </a:rPr>
              <a:t>Revenue ↔ Employee Count (Strong)</a:t>
            </a:r>
            <a:endParaRPr lang="en-US" dirty="0"/>
          </a:p>
          <a:p>
            <a:pPr marL="742950" lvl="1" indent="-285750">
              <a:buFont typeface="Arial" panose="020B0604020202020204" pitchFamily="34" charset="0"/>
              <a:buChar char="•"/>
            </a:pPr>
            <a:r>
              <a:rPr lang="en-US" dirty="0">
                <a:effectLst/>
              </a:rPr>
              <a:t>Revenue ↔ Customer Count (Strong)</a:t>
            </a:r>
            <a:endParaRPr lang="en-US" dirty="0"/>
          </a:p>
          <a:p>
            <a:pPr>
              <a:buFont typeface="Arial" panose="020B0604020202020204" pitchFamily="34" charset="0"/>
              <a:buChar char="•"/>
            </a:pPr>
            <a:r>
              <a:rPr lang="en-US" b="1" dirty="0">
                <a:effectLst/>
              </a:rPr>
              <a:t>Numerical vs Categorical:</a:t>
            </a:r>
            <a:endParaRPr lang="en-US" dirty="0"/>
          </a:p>
          <a:p>
            <a:pPr marL="742950" lvl="1" indent="-285750">
              <a:buFont typeface="Arial" panose="020B0604020202020204" pitchFamily="34" charset="0"/>
              <a:buChar char="•"/>
            </a:pPr>
            <a:r>
              <a:rPr lang="en-US" dirty="0">
                <a:effectLst/>
              </a:rPr>
              <a:t>Tech → highest revenue</a:t>
            </a:r>
            <a:endParaRPr lang="en-US" dirty="0"/>
          </a:p>
          <a:p>
            <a:pPr marL="742950" lvl="1" indent="-285750">
              <a:buFont typeface="Arial" panose="020B0604020202020204" pitchFamily="34" charset="0"/>
              <a:buChar char="•"/>
            </a:pPr>
            <a:r>
              <a:rPr lang="en-US" dirty="0">
                <a:effectLst/>
              </a:rPr>
              <a:t>Healthcare → stable margins</a:t>
            </a:r>
            <a:endParaRPr lang="en-US" dirty="0"/>
          </a:p>
        </p:txBody>
      </p:sp>
      <p:pic>
        <p:nvPicPr>
          <p:cNvPr id="8" name="Picture 7">
            <a:extLst>
              <a:ext uri="{FF2B5EF4-FFF2-40B4-BE49-F238E27FC236}">
                <a16:creationId xmlns:a16="http://schemas.microsoft.com/office/drawing/2014/main" id="{00BEF8DE-6DB0-E93D-E046-40F765E17A5C}"/>
              </a:ext>
            </a:extLst>
          </p:cNvPr>
          <p:cNvPicPr>
            <a:picLocks noChangeAspect="1"/>
          </p:cNvPicPr>
          <p:nvPr/>
        </p:nvPicPr>
        <p:blipFill>
          <a:blip r:embed="rId2"/>
          <a:stretch>
            <a:fillRect/>
          </a:stretch>
        </p:blipFill>
        <p:spPr>
          <a:xfrm>
            <a:off x="4987636" y="585067"/>
            <a:ext cx="3298056" cy="3388509"/>
          </a:xfrm>
          <a:prstGeom prst="rect">
            <a:avLst/>
          </a:prstGeom>
        </p:spPr>
      </p:pic>
      <p:pic>
        <p:nvPicPr>
          <p:cNvPr id="14" name="Picture 13">
            <a:extLst>
              <a:ext uri="{FF2B5EF4-FFF2-40B4-BE49-F238E27FC236}">
                <a16:creationId xmlns:a16="http://schemas.microsoft.com/office/drawing/2014/main" id="{3DD92D42-5197-56DC-C9C3-D21F95507C7A}"/>
              </a:ext>
            </a:extLst>
          </p:cNvPr>
          <p:cNvPicPr>
            <a:picLocks noChangeAspect="1"/>
          </p:cNvPicPr>
          <p:nvPr/>
        </p:nvPicPr>
        <p:blipFill>
          <a:blip r:embed="rId3"/>
          <a:stretch>
            <a:fillRect/>
          </a:stretch>
        </p:blipFill>
        <p:spPr>
          <a:xfrm>
            <a:off x="4572000" y="3569644"/>
            <a:ext cx="4514850" cy="2895600"/>
          </a:xfrm>
          <a:prstGeom prst="rect">
            <a:avLst/>
          </a:prstGeom>
        </p:spPr>
      </p:pic>
    </p:spTree>
    <p:extLst>
      <p:ext uri="{BB962C8B-B14F-4D97-AF65-F5344CB8AC3E}">
        <p14:creationId xmlns:p14="http://schemas.microsoft.com/office/powerpoint/2010/main" val="155917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536E7D-1B32-79D3-5B64-01B339DE53E2}"/>
              </a:ext>
            </a:extLst>
          </p:cNvPr>
          <p:cNvPicPr>
            <a:picLocks noChangeAspect="1"/>
          </p:cNvPicPr>
          <p:nvPr/>
        </p:nvPicPr>
        <p:blipFill>
          <a:blip r:embed="rId2"/>
          <a:srcRect t="4239" r="3" b="3"/>
          <a:stretch>
            <a:fillRect/>
          </a:stretch>
        </p:blipFill>
        <p:spPr>
          <a:xfrm>
            <a:off x="20" y="10"/>
            <a:ext cx="7252212" cy="6857990"/>
          </a:xfrm>
          <a:prstGeom prst="rect">
            <a:avLst/>
          </a:prstGeom>
        </p:spPr>
      </p:pic>
      <p:sp>
        <p:nvSpPr>
          <p:cNvPr id="3" name="TextBox 2">
            <a:extLst>
              <a:ext uri="{FF2B5EF4-FFF2-40B4-BE49-F238E27FC236}">
                <a16:creationId xmlns:a16="http://schemas.microsoft.com/office/drawing/2014/main" id="{EDDB8BD4-AF74-E331-DC24-6825E2C0515E}"/>
              </a:ext>
            </a:extLst>
          </p:cNvPr>
          <p:cNvSpPr txBox="1"/>
          <p:nvPr/>
        </p:nvSpPr>
        <p:spPr>
          <a:xfrm>
            <a:off x="5648707" y="2434201"/>
            <a:ext cx="2866642" cy="3742762"/>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700" b="1" dirty="0"/>
              <a:t>Conclusion</a:t>
            </a:r>
          </a:p>
          <a:p>
            <a:pPr indent="-228600" defTabSz="914400">
              <a:lnSpc>
                <a:spcPct val="90000"/>
              </a:lnSpc>
              <a:spcAft>
                <a:spcPts val="600"/>
              </a:spcAft>
              <a:buFont typeface="Arial" panose="020B0604020202020204" pitchFamily="34" charset="0"/>
              <a:buChar char="•"/>
            </a:pPr>
            <a:r>
              <a:rPr lang="en-US" sz="1700" dirty="0">
                <a:effectLst/>
              </a:rPr>
              <a:t>Applied: Univariate, Bivariate, Multivariate, Correlation, Outlier Detection, Skewness &amp; Kurtosis</a:t>
            </a:r>
            <a:endParaRPr lang="en-US" sz="1700" dirty="0"/>
          </a:p>
          <a:p>
            <a:pPr indent="-228600" defTabSz="914400">
              <a:lnSpc>
                <a:spcPct val="90000"/>
              </a:lnSpc>
              <a:spcAft>
                <a:spcPts val="600"/>
              </a:spcAft>
              <a:buFont typeface="Arial" panose="020B0604020202020204" pitchFamily="34" charset="0"/>
              <a:buChar char="•"/>
            </a:pPr>
            <a:r>
              <a:rPr lang="en-US" sz="1700" dirty="0">
                <a:effectLst/>
              </a:rPr>
              <a:t>Provided insights for:</a:t>
            </a:r>
            <a:endParaRPr lang="en-US" sz="1700" dirty="0"/>
          </a:p>
          <a:p>
            <a:pPr marL="742950" lvl="1" indent="-228600" defTabSz="914400">
              <a:lnSpc>
                <a:spcPct val="90000"/>
              </a:lnSpc>
              <a:spcAft>
                <a:spcPts val="600"/>
              </a:spcAft>
              <a:buFont typeface="Arial" panose="020B0604020202020204" pitchFamily="34" charset="0"/>
              <a:buChar char="•"/>
            </a:pPr>
            <a:r>
              <a:rPr lang="en-US" sz="1700" dirty="0">
                <a:effectLst/>
              </a:rPr>
              <a:t>Business Intelligence</a:t>
            </a:r>
            <a:endParaRPr lang="en-US" sz="1700" dirty="0"/>
          </a:p>
          <a:p>
            <a:pPr marL="742950" lvl="1" indent="-228600" defTabSz="914400">
              <a:lnSpc>
                <a:spcPct val="90000"/>
              </a:lnSpc>
              <a:spcAft>
                <a:spcPts val="600"/>
              </a:spcAft>
              <a:buFont typeface="Arial" panose="020B0604020202020204" pitchFamily="34" charset="0"/>
              <a:buChar char="•"/>
            </a:pPr>
            <a:r>
              <a:rPr lang="en-US" sz="1700" dirty="0">
                <a:effectLst/>
              </a:rPr>
              <a:t>Market Trend Analysis</a:t>
            </a:r>
            <a:endParaRPr lang="en-US" sz="1700" dirty="0"/>
          </a:p>
          <a:p>
            <a:pPr marL="742950" lvl="1" indent="-228600" defTabSz="914400">
              <a:lnSpc>
                <a:spcPct val="90000"/>
              </a:lnSpc>
              <a:spcAft>
                <a:spcPts val="600"/>
              </a:spcAft>
              <a:buFont typeface="Arial" panose="020B0604020202020204" pitchFamily="34" charset="0"/>
              <a:buChar char="•"/>
            </a:pPr>
            <a:r>
              <a:rPr lang="en-US" sz="1700" dirty="0">
                <a:effectLst/>
              </a:rPr>
              <a:t>Revenue Forecasting</a:t>
            </a:r>
            <a:endParaRPr lang="en-US" sz="1700" dirty="0"/>
          </a:p>
          <a:p>
            <a:pPr marL="742950" lvl="1" indent="-228600" defTabSz="914400">
              <a:lnSpc>
                <a:spcPct val="90000"/>
              </a:lnSpc>
              <a:spcAft>
                <a:spcPts val="600"/>
              </a:spcAft>
              <a:buFont typeface="Arial" panose="020B0604020202020204" pitchFamily="34" charset="0"/>
              <a:buChar char="•"/>
            </a:pPr>
            <a:r>
              <a:rPr lang="en-US" sz="1700" dirty="0">
                <a:effectLst/>
              </a:rPr>
              <a:t>Strategic Decision Making</a:t>
            </a:r>
            <a:endParaRPr lang="en-US" sz="1700" dirty="0"/>
          </a:p>
        </p:txBody>
      </p:sp>
    </p:spTree>
    <p:extLst>
      <p:ext uri="{BB962C8B-B14F-4D97-AF65-F5344CB8AC3E}">
        <p14:creationId xmlns:p14="http://schemas.microsoft.com/office/powerpoint/2010/main" val="3692028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29" name="Picture 28">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0" name="Straight Connector 29">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2" name="Rectangle 31">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4" name="Rectangle 3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extBox 2">
            <a:extLst>
              <a:ext uri="{FF2B5EF4-FFF2-40B4-BE49-F238E27FC236}">
                <a16:creationId xmlns:a16="http://schemas.microsoft.com/office/drawing/2014/main" id="{879CF946-617B-50BF-661D-9A6AB012FB16}"/>
              </a:ext>
            </a:extLst>
          </p:cNvPr>
          <p:cNvSpPr txBox="1"/>
          <p:nvPr/>
        </p:nvSpPr>
        <p:spPr>
          <a:xfrm>
            <a:off x="1088685" y="2015732"/>
            <a:ext cx="3129159" cy="3450613"/>
          </a:xfrm>
          <a:prstGeom prst="rect">
            <a:avLst/>
          </a:prstGeom>
        </p:spPr>
        <p:txBody>
          <a:bodyPr vert="horz" lIns="91440" tIns="45720" rIns="91440" bIns="45720" rtlCol="0" anchor="t">
            <a:normAutofit/>
          </a:bodyPr>
          <a:lstStyle/>
          <a:p>
            <a:pPr indent="-228600" defTabSz="914400">
              <a:lnSpc>
                <a:spcPct val="120000"/>
              </a:lnSpc>
              <a:spcAft>
                <a:spcPts val="600"/>
              </a:spcAft>
              <a:buClr>
                <a:schemeClr val="accent1"/>
              </a:buClr>
              <a:buSzPct val="100000"/>
              <a:buFont typeface="Arial" panose="020B0604020202020204" pitchFamily="34" charset="0"/>
              <a:buChar char="•"/>
            </a:pPr>
            <a:r>
              <a:rPr lang="en-US" b="1"/>
              <a:t>Libraries Used</a:t>
            </a:r>
          </a:p>
          <a:p>
            <a:pPr indent="-228600" defTabSz="914400">
              <a:lnSpc>
                <a:spcPct val="120000"/>
              </a:lnSpc>
              <a:spcAft>
                <a:spcPts val="600"/>
              </a:spcAft>
              <a:buClr>
                <a:schemeClr val="accent1"/>
              </a:buClr>
              <a:buSzPct val="100000"/>
              <a:buFont typeface="Arial" panose="020B0604020202020204" pitchFamily="34" charset="0"/>
              <a:buChar char="•"/>
            </a:pPr>
            <a:r>
              <a:rPr lang="en-US" b="1"/>
              <a:t>NumPy</a:t>
            </a:r>
            <a:r>
              <a:rPr lang="en-US"/>
              <a:t> – Numerical operations</a:t>
            </a:r>
          </a:p>
          <a:p>
            <a:pPr indent="-228600" defTabSz="914400">
              <a:lnSpc>
                <a:spcPct val="120000"/>
              </a:lnSpc>
              <a:spcAft>
                <a:spcPts val="600"/>
              </a:spcAft>
              <a:buClr>
                <a:schemeClr val="accent1"/>
              </a:buClr>
              <a:buSzPct val="100000"/>
              <a:buFont typeface="Arial" panose="020B0604020202020204" pitchFamily="34" charset="0"/>
              <a:buChar char="•"/>
            </a:pPr>
            <a:r>
              <a:rPr lang="en-US" b="1"/>
              <a:t>Pandas</a:t>
            </a:r>
            <a:r>
              <a:rPr lang="en-US"/>
              <a:t> – Data manipulation</a:t>
            </a:r>
          </a:p>
          <a:p>
            <a:pPr indent="-228600" defTabSz="914400">
              <a:lnSpc>
                <a:spcPct val="120000"/>
              </a:lnSpc>
              <a:spcAft>
                <a:spcPts val="600"/>
              </a:spcAft>
              <a:buClr>
                <a:schemeClr val="accent1"/>
              </a:buClr>
              <a:buSzPct val="100000"/>
              <a:buFont typeface="Arial" panose="020B0604020202020204" pitchFamily="34" charset="0"/>
              <a:buChar char="•"/>
            </a:pPr>
            <a:r>
              <a:rPr lang="en-US" b="1"/>
              <a:t>Matplotlib</a:t>
            </a:r>
            <a:r>
              <a:rPr lang="en-US"/>
              <a:t> – Visualization</a:t>
            </a:r>
          </a:p>
          <a:p>
            <a:pPr indent="-228600" defTabSz="914400">
              <a:lnSpc>
                <a:spcPct val="120000"/>
              </a:lnSpc>
              <a:spcAft>
                <a:spcPts val="600"/>
              </a:spcAft>
              <a:buClr>
                <a:schemeClr val="accent1"/>
              </a:buClr>
              <a:buSzPct val="100000"/>
              <a:buFont typeface="Arial" panose="020B0604020202020204" pitchFamily="34" charset="0"/>
              <a:buChar char="•"/>
            </a:pPr>
            <a:r>
              <a:rPr lang="en-US" b="1"/>
              <a:t>Seaborn</a:t>
            </a:r>
            <a:r>
              <a:rPr lang="en-US"/>
              <a:t> – Statistical plots &amp; heatmaps</a:t>
            </a:r>
          </a:p>
        </p:txBody>
      </p:sp>
      <p:pic>
        <p:nvPicPr>
          <p:cNvPr id="6" name="Picture 5">
            <a:extLst>
              <a:ext uri="{FF2B5EF4-FFF2-40B4-BE49-F238E27FC236}">
                <a16:creationId xmlns:a16="http://schemas.microsoft.com/office/drawing/2014/main" id="{B6EF96A5-63E2-3CFB-9FF1-C9C84428006C}"/>
              </a:ext>
            </a:extLst>
          </p:cNvPr>
          <p:cNvPicPr>
            <a:picLocks noChangeAspect="1"/>
          </p:cNvPicPr>
          <p:nvPr/>
        </p:nvPicPr>
        <p:blipFill>
          <a:blip r:embed="rId3"/>
          <a:stretch>
            <a:fillRect/>
          </a:stretch>
        </p:blipFill>
        <p:spPr>
          <a:xfrm>
            <a:off x="4751872" y="1517620"/>
            <a:ext cx="3720331" cy="3236688"/>
          </a:xfrm>
          <a:prstGeom prst="rect">
            <a:avLst/>
          </a:prstGeom>
        </p:spPr>
      </p:pic>
      <p:pic>
        <p:nvPicPr>
          <p:cNvPr id="35" name="Picture 34">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27" name="Straight Connector 26">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823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247" name="Rectangle 10246">
            <a:extLst>
              <a:ext uri="{FF2B5EF4-FFF2-40B4-BE49-F238E27FC236}">
                <a16:creationId xmlns:a16="http://schemas.microsoft.com/office/drawing/2014/main" id="{2C6F198E-F7A1-4125-910D-641C0C2A76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303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907C3A25-D9A7-4F2D-B44C-FA8EB24C7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599" y="643467"/>
            <a:ext cx="8178800" cy="5566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Thank You Slide by Anshita Srivastava">
            <a:extLst>
              <a:ext uri="{FF2B5EF4-FFF2-40B4-BE49-F238E27FC236}">
                <a16:creationId xmlns:a16="http://schemas.microsoft.com/office/drawing/2014/main" id="{824FCBC1-3639-32FA-BF9B-234FE749136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30559" y="1128098"/>
            <a:ext cx="6888406" cy="4598011"/>
          </a:xfrm>
          <a:prstGeom prst="rect">
            <a:avLst/>
          </a:prstGeom>
          <a:noFill/>
          <a:extLst>
            <a:ext uri="{909E8E84-426E-40DD-AFC4-6F175D3DCCD1}">
              <a14:hiddenFill xmlns:a14="http://schemas.microsoft.com/office/drawing/2010/main">
                <a:solidFill>
                  <a:srgbClr val="FFFFFF"/>
                </a:solidFill>
              </a14:hiddenFill>
            </a:ext>
          </a:extLst>
        </p:spPr>
      </p:pic>
      <p:sp>
        <p:nvSpPr>
          <p:cNvPr id="10251" name="Rectangle 10250">
            <a:extLst>
              <a:ext uri="{FF2B5EF4-FFF2-40B4-BE49-F238E27FC236}">
                <a16:creationId xmlns:a16="http://schemas.microsoft.com/office/drawing/2014/main" id="{18E8515E-B8C8-482A-A9B5-CE57BC080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301943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116</TotalTime>
  <Words>536</Words>
  <Application>Microsoft Office PowerPoint</Application>
  <PresentationFormat>On-screen Show (4:3)</PresentationFormat>
  <Paragraphs>62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Gill Sans MT</vt:lpstr>
      <vt:lpstr>Gallery</vt:lpstr>
      <vt:lpstr>PowerPoint Presentation</vt:lpstr>
      <vt:lpstr>Exploratory Data Analysis of Large‑Scale Industry Performance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lenovo</cp:lastModifiedBy>
  <cp:revision>4</cp:revision>
  <dcterms:created xsi:type="dcterms:W3CDTF">2013-01-27T09:14:16Z</dcterms:created>
  <dcterms:modified xsi:type="dcterms:W3CDTF">2026-06-10T19:44:37Z</dcterms:modified>
  <cp:category/>
</cp:coreProperties>
</file>